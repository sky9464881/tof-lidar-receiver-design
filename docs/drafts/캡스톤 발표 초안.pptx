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4170" r:id="rId1"/>
  </p:sldMasterIdLst>
  <p:notesMasterIdLst>
    <p:notesMasterId r:id="rId32"/>
  </p:notesMasterIdLst>
  <p:handoutMasterIdLst>
    <p:handoutMasterId r:id="rId33"/>
  </p:handoutMasterIdLst>
  <p:sldIdLst>
    <p:sldId id="1059" r:id="rId2"/>
    <p:sldId id="1082" r:id="rId3"/>
    <p:sldId id="1083" r:id="rId4"/>
    <p:sldId id="1108" r:id="rId5"/>
    <p:sldId id="1113" r:id="rId6"/>
    <p:sldId id="1114" r:id="rId7"/>
    <p:sldId id="1115" r:id="rId8"/>
    <p:sldId id="1116" r:id="rId9"/>
    <p:sldId id="1117" r:id="rId10"/>
    <p:sldId id="1119" r:id="rId11"/>
    <p:sldId id="1135" r:id="rId12"/>
    <p:sldId id="1138" r:id="rId13"/>
    <p:sldId id="1137" r:id="rId14"/>
    <p:sldId id="1136" r:id="rId15"/>
    <p:sldId id="1139" r:id="rId16"/>
    <p:sldId id="1120" r:id="rId17"/>
    <p:sldId id="1121" r:id="rId18"/>
    <p:sldId id="1126" r:id="rId19"/>
    <p:sldId id="1127" r:id="rId20"/>
    <p:sldId id="1128" r:id="rId21"/>
    <p:sldId id="1129" r:id="rId22"/>
    <p:sldId id="1130" r:id="rId23"/>
    <p:sldId id="1131" r:id="rId24"/>
    <p:sldId id="1134" r:id="rId25"/>
    <p:sldId id="1140" r:id="rId26"/>
    <p:sldId id="1132" r:id="rId27"/>
    <p:sldId id="1133" r:id="rId28"/>
    <p:sldId id="1122" r:id="rId29"/>
    <p:sldId id="1123" r:id="rId30"/>
    <p:sldId id="1124" r:id="rId31"/>
  </p:sldIdLst>
  <p:sldSz cx="9144000" cy="6858000" type="screen4x3"/>
  <p:notesSz cx="6735763" cy="9799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조만정" initials="조" lastIdx="43" clrIdx="0"/>
  <p:cmAuthor id="2" name="세강 김" initials="세김" lastIdx="1" clrIdx="1">
    <p:extLst>
      <p:ext uri="{19B8F6BF-5375-455C-9EA6-DF929625EA0E}">
        <p15:presenceInfo xmlns:p15="http://schemas.microsoft.com/office/powerpoint/2012/main" userId="9662bbd322d81d6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87152" autoAdjust="0"/>
  </p:normalViewPr>
  <p:slideViewPr>
    <p:cSldViewPr>
      <p:cViewPr varScale="1">
        <p:scale>
          <a:sx n="96" d="100"/>
          <a:sy n="96" d="100"/>
        </p:scale>
        <p:origin x="1532" y="56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9413" cy="490377"/>
          </a:xfrm>
          <a:prstGeom prst="rect">
            <a:avLst/>
          </a:prstGeom>
        </p:spPr>
        <p:txBody>
          <a:bodyPr vert="horz" lIns="91060" tIns="45530" rIns="91060" bIns="4553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0377"/>
          </a:xfrm>
          <a:prstGeom prst="rect">
            <a:avLst/>
          </a:prstGeom>
        </p:spPr>
        <p:txBody>
          <a:bodyPr vert="horz" lIns="91060" tIns="45530" rIns="91060" bIns="45530"/>
          <a:lstStyle>
            <a:lvl1pPr algn="r">
              <a:defRPr sz="1200"/>
            </a:lvl1pPr>
          </a:lstStyle>
          <a:p>
            <a:pPr lvl="0">
              <a:defRPr/>
            </a:pPr>
            <a:fld id="{1F006619-ACDF-4676-BC0B-45F7E3FE39D9}" type="datetime1">
              <a:rPr lang="ko-KR" altLang="en-US"/>
              <a:pPr lvl="0">
                <a:defRPr/>
              </a:pPr>
              <a:t>2025-06-05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307686"/>
            <a:ext cx="2919413" cy="490376"/>
          </a:xfrm>
          <a:prstGeom prst="rect">
            <a:avLst/>
          </a:prstGeom>
        </p:spPr>
        <p:txBody>
          <a:bodyPr vert="horz" lIns="91060" tIns="45530" rIns="91060" bIns="4553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4763" y="9307686"/>
            <a:ext cx="2919412" cy="490376"/>
          </a:xfrm>
          <a:prstGeom prst="rect">
            <a:avLst/>
          </a:prstGeom>
        </p:spPr>
        <p:txBody>
          <a:bodyPr vert="horz" lIns="91060" tIns="45530" rIns="91060" bIns="45530" anchor="b"/>
          <a:lstStyle>
            <a:lvl1pPr algn="r">
              <a:defRPr sz="1200"/>
            </a:lvl1pPr>
          </a:lstStyle>
          <a:p>
            <a:pPr lvl="0">
              <a:defRPr/>
            </a:pPr>
            <a:fld id="{9D7567E6-1CD1-4DAB-B197-3A43FAE2457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18830" cy="489982"/>
          </a:xfrm>
          <a:prstGeom prst="rect">
            <a:avLst/>
          </a:prstGeom>
        </p:spPr>
        <p:txBody>
          <a:bodyPr vert="horz" lIns="90376" tIns="45188" rIns="90376" bIns="45188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5" y="1"/>
            <a:ext cx="2918830" cy="489982"/>
          </a:xfrm>
          <a:prstGeom prst="rect">
            <a:avLst/>
          </a:prstGeom>
        </p:spPr>
        <p:txBody>
          <a:bodyPr vert="horz" lIns="90376" tIns="45188" rIns="90376" bIns="45188"/>
          <a:lstStyle>
            <a:lvl1pPr algn="r">
              <a:defRPr sz="1200"/>
            </a:lvl1pPr>
          </a:lstStyle>
          <a:p>
            <a:pPr lvl="0">
              <a:defRPr/>
            </a:pPr>
            <a:fld id="{2428DA26-9F70-4090-A922-080A361206E7}" type="datetime1">
              <a:rPr lang="ko-KR" altLang="en-US"/>
              <a:pPr lvl="0">
                <a:defRPr/>
              </a:pPr>
              <a:t>2025-06-05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19163" y="735013"/>
            <a:ext cx="4897437" cy="3673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376" tIns="45188" rIns="90376" bIns="45188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654831"/>
            <a:ext cx="5388610" cy="4409837"/>
          </a:xfrm>
          <a:prstGeom prst="rect">
            <a:avLst/>
          </a:prstGeom>
        </p:spPr>
        <p:txBody>
          <a:bodyPr vert="horz" lIns="90376" tIns="45188" rIns="90376" bIns="45188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307957"/>
            <a:ext cx="2918830" cy="489982"/>
          </a:xfrm>
          <a:prstGeom prst="rect">
            <a:avLst/>
          </a:prstGeom>
        </p:spPr>
        <p:txBody>
          <a:bodyPr vert="horz" lIns="90376" tIns="45188" rIns="90376" bIns="45188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5" y="9307957"/>
            <a:ext cx="2918830" cy="489982"/>
          </a:xfrm>
          <a:prstGeom prst="rect">
            <a:avLst/>
          </a:prstGeom>
        </p:spPr>
        <p:txBody>
          <a:bodyPr vert="horz" lIns="90376" tIns="45188" rIns="90376" bIns="45188" anchor="b"/>
          <a:lstStyle>
            <a:lvl1pPr algn="r">
              <a:defRPr sz="1200"/>
            </a:lvl1pPr>
          </a:lstStyle>
          <a:p>
            <a:pPr lvl="0">
              <a:defRPr/>
            </a:pPr>
            <a:fld id="{7E0E8D0B-C72C-49B9-BF62-923DFA9DD3E5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42022-2EBD-3DC2-81FB-593FA5DC4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064A40-B430-1274-036D-99DB4F85546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56E41FA-356A-FD84-53A5-3CF5BF2631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03BBA3-ADFE-A8F7-34E9-E2BD5D42FB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87566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242BC-2E42-AF8A-6B73-63C25E5AC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4F31F26-C53C-1109-7D8A-DE5C0A407EE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BF353A-900F-ABA6-4017-C8EA2188B5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D2D94F-EA9F-1515-9977-E539AD0355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27835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99768-0866-F387-D149-FB567B106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41B3CF1-AB14-B684-7AF4-00AEDDC289E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7534EE-A1A3-87F5-8E3E-8182214F20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5206F3-D88C-D37E-AF13-2D8A88A441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40004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5E4D3-A72E-498A-9149-84F1151F0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DB2412B-6A61-4970-50CF-F833EA356BD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C0F79B7-1B56-35E7-89C0-98B596D377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254032-0381-E9E7-C2DC-470904DE8E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64372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F00D6-60C3-1167-F333-FE2D548AE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41E4C0-789D-EB6A-2285-5FDE683EE7D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3DFA4F9-AF9C-40FB-62C0-E1F79D7657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DC9B4F-AB26-A51D-87F8-803F5E2A4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51163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82D90-4B54-5C13-4E4F-329A08678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046C83-8F80-CB54-A8C7-34D4EF8D908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B886DAE-C467-FFA5-D29E-0C0946C397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DDA731-24ED-B59B-D5C7-ED082AF63B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56079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E5A05-5906-22CD-8A98-0870BB71F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7986023-29E2-3F28-EF0A-647CD3948A2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C139B2C-9EDA-F5AB-6D9C-7526F24F7F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745AF0-4E0A-3B2D-4E13-5E437B5318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57789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16560-1C90-3C13-F330-F5034ABB4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D3A7BE2-92FB-EAD9-5835-9F502BCA04C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28EB5E-B1BA-7D6D-57C7-220A468EF1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39F4BC-50D6-F6BF-5B4B-262CB54089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2119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5A252-E271-574C-6ED6-35CF8389D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A45067-444B-34A5-DD66-B0364CA8066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8D1DC7C-E963-51CF-A8B4-1685E9B209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A602CC-EA63-C237-6653-A02A0460FC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81937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03C5E-9F74-21F3-97A6-8E80E0894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68D20D-581E-4299-C246-DA56A4F8C42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44F459D-FBA0-8A48-B976-33091AF9AC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7D4211-53B0-AAF7-5D33-DEC69B90D5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96954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76880-75F0-1FD1-8444-4C85CD96D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BF14C1-EC8C-7F2B-3D60-902B6E577EA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9EC1117-EC80-6105-EBB9-D5A97605C0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47043E-EBF0-FA4E-2D5C-405B58878A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2730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8FF1D-E428-BE40-F59C-8A5AD4503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D01F76-5BBF-CA55-B237-717175980DD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FA0B9D-BA87-98FC-5795-880D61E528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BE145D-B98F-82CB-1C28-EFFFFB3579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55382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E8B68-F13A-D9E7-2C68-9C26DB2AD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4CB75F-EA0E-70CA-3E0E-39893F1DFF8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EAB149-B6AC-8728-5544-D3F8293BA4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77DF55-CD27-657F-FF3D-D563EA8607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30129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85F30-75C9-12F7-DACC-E73FA4241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F64F51F-BE91-4549-ADEB-4851CAA6820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FB69E3-E607-4B02-2266-66217387CD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467B6D-D017-DE73-DC80-55B6B1DCFC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19164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FE69D-61A4-EB6B-1525-2A7C7E9DD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05DF072-81EE-501D-D1CF-B9E3AFBC03B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8CE4BD-00EC-F4B5-6867-94652183BB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6873D3-B497-B79B-C34D-A8874D41DC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50069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D48A5-C1F9-5C56-1475-95CB74E91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764ED82-DF4E-A507-2FE0-E5DAE6C7A86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E5AF6C-35E6-60E7-A909-5EED901D95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BFFC64-3C57-F420-F1D3-6DD122CA96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12586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53DAC-D06D-6FAB-30D3-D6E3C4B34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3A2E29-B36E-2E61-8027-FCF0944630A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4BB84EE-8E6C-6DC4-9B75-814D31D69C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8BFA3D-7256-B96F-CDA2-1EF239B966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88934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33F84-36B3-B2E0-3193-75CB28515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A9D7FAE-A0AD-F8B4-C924-7C5A557078B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656C8C7-AE36-AF31-D4BF-52C9D6E5D6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A65E59-1CE9-9962-EB71-893FC1A8CA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55754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251E6-180A-286A-079B-2B6972126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097FD1-7802-29DA-A089-B19FBA52342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DB1090-0D14-64F5-30DC-5F11203736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261A73-81C8-2DDF-F306-B075E733A4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2665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BF6AB-C94E-0FFD-BB4D-9208B637C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FE01EA2-D836-0E2D-7C65-F72502F6C61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8A1E0ED-1F09-B602-2E0E-8D72EFE842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E873CE-0735-544C-DFCA-5D8355EC1D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58279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89EB2-B605-DC9C-D179-B99CA8BF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F22076-74D1-5B0F-CB7E-A43955568CE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E75A35-1EAA-9778-AD37-A69074E127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F4ED2F-4044-7982-F30D-12E05A2D50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58600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29639-695A-D04E-6615-61F2A3601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3E6CE5-FF5D-5460-698B-70F601DFBA8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CADC30-2E11-694D-3F2D-6D675B2C9E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51AE70-68E3-A8B4-BEF9-0B32427F0C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942948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0F3A7-70E8-3586-AA09-E04E3CF6A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741AF9B-3D45-C371-22A9-F58CB603E5F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B65CC15-D172-C5CF-08B9-4624D339AF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2E9C3F-731B-4647-D021-75521045AD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542044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01DE0-1537-7D3F-19A5-13F57EE56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C8D525-5EFA-BB44-8D1D-938A1BE1671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FB60FFE-B435-8011-33A8-312A636C90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5AD018-BB0E-218F-329B-191B379F0C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525064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EAC99-4731-F9BD-B7C4-9E5D4249D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98A6D08-1DC9-962C-EA39-6FCCA098A77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BA08DCC-8FD1-DAB9-44E3-6C26966E87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E45091-5EAA-DBCE-14DB-10963D98BA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643788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774A3-46E1-B537-971E-6D33F878C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5189BF-235D-0CA5-872C-CFD5BD8D99A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103C5AC-1084-C0FF-4C04-3DD1DF7783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A48E3B-A77F-BAF1-CB33-16FFABE100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287124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96151-7692-2146-414C-9EE0BC4ED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637A2E1-1341-1034-81B3-9908E7B0622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F90228-4E21-C27F-B5AA-390471FAC1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000" dirty="0"/>
              <a:t>compatibility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호환성</a:t>
            </a:r>
            <a:endParaRPr lang="en-US" altLang="ko-KR" sz="1000" dirty="0"/>
          </a:p>
          <a:p>
            <a:pPr marL="0" lvl="0" indent="0">
              <a:buNone/>
              <a:defRPr/>
            </a:pPr>
            <a:r>
              <a:rPr lang="en-US" altLang="ko-KR" sz="1000" dirty="0"/>
              <a:t>EMC</a:t>
            </a:r>
            <a:r>
              <a:rPr lang="ko-KR" altLang="en-US" sz="1000" dirty="0"/>
              <a:t>의 정의가 다음 </a:t>
            </a:r>
            <a:r>
              <a:rPr lang="en-US" altLang="ko-KR" sz="1000" dirty="0"/>
              <a:t>2</a:t>
            </a:r>
            <a:r>
              <a:rPr lang="ko-KR" altLang="en-US" sz="1000" dirty="0"/>
              <a:t>가지와 같다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6C3D31-16D7-23E8-172A-FE6B43E1F7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E0E8D0B-C72C-49B9-BF62-923DFA9DD3E5}" type="slidenum">
              <a:rPr lang="en-US" altLang="en-US"/>
              <a:pPr lvl="0">
                <a:defRPr/>
              </a:pPr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1793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F766A-1A9E-4FD7-AEF1-9BCAA305EDC9}" type="datetime1">
              <a:rPr lang="ko-KR" altLang="en-US" smtClean="0"/>
              <a:pPr/>
              <a:t>2025-06-05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- 1 -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6C61A-D2D6-413D-AD46-ECF6F87677A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7CAB4-E5F6-4A97-A52E-3603291CB281}" type="datetime1">
              <a:rPr lang="ko-KR" altLang="en-US" smtClean="0"/>
              <a:pPr/>
              <a:t>2025-06-05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- 1 -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6C61A-D2D6-413D-AD46-ECF6F87677A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51A64-881E-4EFC-9C3A-3B00D6F990D6}" type="datetime1">
              <a:rPr lang="ko-KR" altLang="en-US" smtClean="0"/>
              <a:pPr/>
              <a:t>2025-06-05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- 1 -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6C61A-D2D6-413D-AD46-ECF6F87677A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AD161-4F21-408A-8048-0AA93112D554}" type="datetime1">
              <a:rPr lang="ko-KR" altLang="en-US" smtClean="0"/>
              <a:pPr/>
              <a:t>2025-06-05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- 1 -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6C61A-D2D6-413D-AD46-ECF6F87677A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48B0D-D900-4E71-BCDD-5F8178B6A779}" type="datetime1">
              <a:rPr lang="ko-KR" altLang="en-US" smtClean="0"/>
              <a:pPr/>
              <a:t>2025-06-05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- 1 -</a:t>
            </a: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6C61A-D2D6-413D-AD46-ECF6F87677A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DBD0B-48A2-4155-AB04-193CE1864781}" type="datetime1">
              <a:rPr lang="ko-KR" altLang="en-US" smtClean="0"/>
              <a:pPr/>
              <a:t>2025-06-05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- 1 -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6C61A-D2D6-413D-AD46-ECF6F87677A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A96A3-AB7B-49D6-BD7B-914EBD06C49E}" type="datetime1">
              <a:rPr lang="ko-KR" altLang="en-US" smtClean="0"/>
              <a:pPr/>
              <a:t>2025-06-05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- 1 -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6C61A-D2D6-413D-AD46-ECF6F87677A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E2428-1EF3-4F87-B52A-D37AF0058CDF}" type="datetime1">
              <a:rPr lang="ko-KR" altLang="en-US" smtClean="0"/>
              <a:pPr/>
              <a:t>2025-06-05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- 1 -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6C61A-D2D6-413D-AD46-ECF6F87677A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CD12B-5B6D-41ED-82EB-0FD5E1138EC4}" type="datetime1">
              <a:rPr lang="ko-KR" altLang="en-US" smtClean="0"/>
              <a:pPr/>
              <a:t>2025-06-05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- 1 -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6C61A-D2D6-413D-AD46-ECF6F87677A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8C643-8CC6-4EF6-86FF-7974D493EFBA}" type="datetime1">
              <a:rPr lang="ko-KR" altLang="en-US" smtClean="0"/>
              <a:pPr/>
              <a:t>2025-06-05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- 1 -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6C61A-D2D6-413D-AD46-ECF6F87677A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2BE53-E31E-4B2C-B576-753FC6618701}" type="datetime1">
              <a:rPr lang="ko-KR" altLang="en-US" smtClean="0"/>
              <a:pPr/>
              <a:t>2025-06-05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- 1 -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6C61A-D2D6-413D-AD46-ECF6F87677A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05AD85-9767-4DC9-A0D0-33F4BB980D95}" type="datetime1">
              <a:rPr lang="ko-KR" altLang="en-US" smtClean="0"/>
              <a:pPr/>
              <a:t>2025-06-05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/>
              <a:t>- 1 -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56C61A-D2D6-413D-AD46-ECF6F87677A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41" r:id="rId1"/>
    <p:sldLayoutId id="2147484142" r:id="rId2"/>
    <p:sldLayoutId id="2147484143" r:id="rId3"/>
    <p:sldLayoutId id="2147484144" r:id="rId4"/>
    <p:sldLayoutId id="2147484145" r:id="rId5"/>
    <p:sldLayoutId id="2147484146" r:id="rId6"/>
    <p:sldLayoutId id="2147484147" r:id="rId7"/>
    <p:sldLayoutId id="2147484148" r:id="rId8"/>
    <p:sldLayoutId id="2147484149" r:id="rId9"/>
    <p:sldLayoutId id="2147484150" r:id="rId10"/>
    <p:sldLayoutId id="2147484151" r:id="rId11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방, 표지판이(가) 표시된 사진  자동 생성된 설명"/>
          <p:cNvPicPr>
            <a:picLocks noChangeAspect="1"/>
          </p:cNvPicPr>
          <p:nvPr/>
        </p:nvPicPr>
        <p:blipFill rotWithShape="1">
          <a:blip r:embed="rId3">
            <a:alphaModFix/>
          </a:blip>
          <a:srcRect l="20140" r="14180"/>
          <a:stretch>
            <a:fillRect/>
          </a:stretch>
        </p:blipFill>
        <p:spPr>
          <a:xfrm>
            <a:off x="240951" y="116632"/>
            <a:ext cx="658641" cy="707874"/>
          </a:xfrm>
          <a:prstGeom prst="rect">
            <a:avLst/>
          </a:prstGeom>
        </p:spPr>
      </p:pic>
      <p:sp>
        <p:nvSpPr>
          <p:cNvPr id="10" name="슬라이드 번호 개체 틀 9"/>
          <p:cNvSpPr>
            <a:spLocks noGrp="1"/>
          </p:cNvSpPr>
          <p:nvPr>
            <p:ph type="sldNum" sz="quarter" idx="12"/>
          </p:nvPr>
        </p:nvSpPr>
        <p:spPr>
          <a:xfrm>
            <a:off x="2778840" y="6474551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1</a:t>
            </a:fld>
            <a:endParaRPr lang="en-US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18985" y="87402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21" name="직사각형 20"/>
          <p:cNvSpPr/>
          <p:nvPr/>
        </p:nvSpPr>
        <p:spPr>
          <a:xfrm>
            <a:off x="661895" y="87402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822099" y="6474551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 dirty="0">
                <a:latin typeface="Times New Roman"/>
                <a:cs typeface="Times New Roman"/>
              </a:rPr>
              <a:t>Mixed-signal System Design Laboratory (</a:t>
            </a:r>
            <a:r>
              <a:rPr lang="en-US" altLang="ko-KR" sz="1100" b="1" i="1" dirty="0" err="1">
                <a:latin typeface="Times New Roman"/>
                <a:cs typeface="Times New Roman"/>
              </a:rPr>
              <a:t>MSDLab</a:t>
            </a:r>
            <a:r>
              <a:rPr lang="en-US" altLang="ko-KR" sz="1100" b="1" i="1" dirty="0">
                <a:latin typeface="Times New Roman"/>
                <a:cs typeface="Times New Roman"/>
              </a:rPr>
              <a:t>.)</a:t>
            </a:r>
            <a:endParaRPr lang="ko-KR" altLang="en-US" sz="1100" b="1" i="1" dirty="0">
              <a:latin typeface="Times New Roman"/>
              <a:cs typeface="Times New Roma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9592" y="116632"/>
            <a:ext cx="4381008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dirty="0" err="1"/>
              <a:t>Kwangwoon</a:t>
            </a:r>
            <a:r>
              <a:rPr lang="en-US" altLang="ko-KR" sz="1400" dirty="0"/>
              <a:t> University</a:t>
            </a:r>
          </a:p>
          <a:p>
            <a:pPr lvl="0">
              <a:defRPr/>
            </a:pPr>
            <a:r>
              <a:rPr lang="en-US" altLang="ko-KR" sz="1400" dirty="0"/>
              <a:t>Department of Electronic Convergence Engineering</a:t>
            </a:r>
          </a:p>
          <a:p>
            <a:pPr lvl="0">
              <a:defRPr/>
            </a:pPr>
            <a:r>
              <a:rPr lang="en-US" altLang="ko-KR" sz="1400" dirty="0"/>
              <a:t>Mixed-signal</a:t>
            </a:r>
            <a:r>
              <a:rPr lang="ko-KR" altLang="en-US" sz="1400" dirty="0"/>
              <a:t> </a:t>
            </a:r>
            <a:r>
              <a:rPr lang="en-US" altLang="ko-KR" sz="1400" dirty="0"/>
              <a:t>System Design Laboratory</a:t>
            </a:r>
          </a:p>
        </p:txBody>
      </p:sp>
      <p:sp>
        <p:nvSpPr>
          <p:cNvPr id="13" name="제목 1"/>
          <p:cNvSpPr txBox="1"/>
          <p:nvPr/>
        </p:nvSpPr>
        <p:spPr>
          <a:xfrm>
            <a:off x="757237" y="2693987"/>
            <a:ext cx="7772400" cy="1470025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US" altLang="ko-KR" sz="2600" dirty="0"/>
              <a:t>Pulsed TOF </a:t>
            </a:r>
            <a:r>
              <a:rPr lang="ko-KR" altLang="en-US" sz="2600" dirty="0"/>
              <a:t>방식의 </a:t>
            </a:r>
            <a:r>
              <a:rPr lang="en-US" altLang="ko-KR" sz="2600" dirty="0"/>
              <a:t>LIDAR</a:t>
            </a:r>
            <a:r>
              <a:rPr lang="ko-KR" altLang="en-US" sz="2600" dirty="0"/>
              <a:t> </a:t>
            </a:r>
            <a:r>
              <a:rPr lang="ko-KR" altLang="en-US" sz="2600" dirty="0" err="1"/>
              <a:t>수신부</a:t>
            </a:r>
            <a:r>
              <a:rPr lang="ko-KR" altLang="en-US" sz="2600" dirty="0"/>
              <a:t> 설계</a:t>
            </a:r>
            <a:endParaRPr lang="ko-KR" altLang="en-US" sz="1800" dirty="0"/>
          </a:p>
          <a:p>
            <a:pPr lvl="0">
              <a:defRPr/>
            </a:pPr>
            <a:endParaRPr lang="en-US" altLang="ko-KR" sz="2600" dirty="0"/>
          </a:p>
        </p:txBody>
      </p:sp>
      <p:sp>
        <p:nvSpPr>
          <p:cNvPr id="4" name="제목 1"/>
          <p:cNvSpPr txBox="1"/>
          <p:nvPr/>
        </p:nvSpPr>
        <p:spPr>
          <a:xfrm>
            <a:off x="1187624" y="5034650"/>
            <a:ext cx="7772400" cy="147002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r">
              <a:defRPr/>
            </a:pPr>
            <a:r>
              <a:rPr lang="en-US" altLang="ko-KR" sz="1600" dirty="0"/>
              <a:t>6</a:t>
            </a:r>
            <a:r>
              <a:rPr lang="ko-KR" altLang="en-US" sz="1600" dirty="0"/>
              <a:t>조 </a:t>
            </a:r>
            <a:endParaRPr lang="en-US" altLang="ko-KR" sz="1600" dirty="0"/>
          </a:p>
          <a:p>
            <a:pPr lvl="0" algn="r">
              <a:defRPr/>
            </a:pPr>
            <a:r>
              <a:rPr lang="ko-KR" altLang="en-US" sz="1600" dirty="0" err="1"/>
              <a:t>김세강</a:t>
            </a:r>
            <a:endParaRPr lang="en-US" altLang="ko-KR" sz="1600" dirty="0"/>
          </a:p>
          <a:p>
            <a:pPr lvl="0" algn="r">
              <a:defRPr/>
            </a:pPr>
            <a:r>
              <a:rPr lang="ko-KR" altLang="en-US" sz="1600" dirty="0"/>
              <a:t>김화평</a:t>
            </a:r>
            <a:endParaRPr lang="en-US" altLang="ko-KR" sz="1600" dirty="0"/>
          </a:p>
          <a:p>
            <a:pPr lvl="0" algn="r">
              <a:defRPr/>
            </a:pPr>
            <a:r>
              <a:rPr lang="ko-KR" altLang="en-US" sz="1600" dirty="0" err="1"/>
              <a:t>나연우</a:t>
            </a:r>
            <a:endParaRPr lang="ko-KR" altLang="en-US" sz="1600" dirty="0"/>
          </a:p>
        </p:txBody>
      </p:sp>
    </p:spTree>
  </p:cSld>
  <p:clrMapOvr>
    <a:masterClrMapping/>
  </p:clrMapOvr>
  <p:transition advTm="5003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314356" y="274638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>
                <a:solidFill>
                  <a:schemeClr val="accent6">
                    <a:lumMod val="50000"/>
                  </a:schemeClr>
                </a:solidFill>
                <a:latin typeface="맑은 고딕"/>
                <a:ea typeface="맑은 고딕"/>
              </a:rPr>
              <a:t>목차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642910" y="8572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  <p:sp>
        <p:nvSpPr>
          <p:cNvPr id="1027" name="내용 개체 틀 3"/>
          <p:cNvSpPr>
            <a:spLocks noGrp="1"/>
          </p:cNvSpPr>
          <p:nvPr>
            <p:ph idx="1"/>
          </p:nvPr>
        </p:nvSpPr>
        <p:spPr>
          <a:xfrm>
            <a:off x="457200" y="1266076"/>
            <a:ext cx="8229600" cy="4525963"/>
          </a:xfrm>
        </p:spPr>
        <p:txBody>
          <a:bodyPr vert="horz" lIns="91440" tIns="45720" rIns="91440" bIns="45720">
            <a:normAutofit/>
          </a:bodyPr>
          <a:lstStyle/>
          <a:p>
            <a:pPr marL="342900" lvl="1" indent="-342900">
              <a:buClr>
                <a:schemeClr val="tx2"/>
              </a:buClr>
              <a:buFont typeface="Wingdings"/>
              <a:buChar char="§"/>
              <a:defRPr/>
            </a:pPr>
            <a:r>
              <a:rPr lang="ko-KR" altLang="en-US" dirty="0" err="1"/>
              <a:t>캡스톤</a:t>
            </a:r>
            <a:r>
              <a:rPr lang="ko-KR" altLang="en-US" dirty="0"/>
              <a:t> 과정</a:t>
            </a:r>
            <a:endParaRPr lang="en-US" altLang="ko-KR" dirty="0"/>
          </a:p>
          <a:p>
            <a:pPr marL="342900" lvl="1" indent="-342900">
              <a:buClr>
                <a:schemeClr val="tx2"/>
              </a:buClr>
              <a:buFont typeface="Wingdings"/>
              <a:buChar char="§"/>
              <a:defRPr/>
            </a:pPr>
            <a:endParaRPr lang="en-US" altLang="ko-KR" dirty="0"/>
          </a:p>
          <a:p>
            <a:pPr marL="342900" lvl="1" indent="-342900">
              <a:buClr>
                <a:schemeClr val="tx2"/>
              </a:buClr>
              <a:buFont typeface="Wingdings"/>
              <a:buChar char="§"/>
              <a:defRPr/>
            </a:pPr>
            <a:r>
              <a:rPr lang="ko-KR" altLang="en-US" dirty="0"/>
              <a:t>튜닝</a:t>
            </a:r>
            <a:endParaRPr lang="en-US" altLang="ko-KR" dirty="0"/>
          </a:p>
          <a:p>
            <a:pPr marL="342900" lvl="1" indent="-342900">
              <a:buClr>
                <a:schemeClr val="tx2"/>
              </a:buClr>
              <a:buFont typeface="Wingdings"/>
              <a:buChar char="§"/>
              <a:defRPr/>
            </a:pPr>
            <a:endParaRPr lang="en-US" altLang="ko-KR" dirty="0"/>
          </a:p>
          <a:p>
            <a:pPr marL="342900" lvl="1" indent="-342900">
              <a:buClr>
                <a:schemeClr val="tx2"/>
              </a:buClr>
              <a:buFont typeface="Wingdings"/>
              <a:buChar char="§"/>
              <a:defRPr/>
            </a:pPr>
            <a:r>
              <a:rPr lang="ko-KR" altLang="en-US" dirty="0"/>
              <a:t>최종결과</a:t>
            </a:r>
            <a:endParaRPr lang="en-US" altLang="ko-KR" dirty="0"/>
          </a:p>
          <a:p>
            <a:pPr marL="342900" lvl="1" indent="-342900">
              <a:buClr>
                <a:schemeClr val="tx2"/>
              </a:buClr>
              <a:buFont typeface="Wingdings"/>
              <a:buChar char="§"/>
              <a:defRPr/>
            </a:pPr>
            <a:endParaRPr lang="en-US" altLang="ko-KR" dirty="0"/>
          </a:p>
          <a:p>
            <a:pPr marL="342900" lvl="1" indent="-342900">
              <a:buClr>
                <a:schemeClr val="tx2"/>
              </a:buClr>
              <a:buFont typeface="Wingdings"/>
              <a:buChar char="§"/>
              <a:defRPr/>
            </a:pPr>
            <a:r>
              <a:rPr lang="ko-KR" altLang="en-US" dirty="0" err="1"/>
              <a:t>보완할점</a:t>
            </a:r>
            <a:endParaRPr lang="en-US" altLang="ko-KR" dirty="0"/>
          </a:p>
          <a:p>
            <a:pPr marL="342900" lvl="1" indent="-342900">
              <a:buClr>
                <a:schemeClr val="tx2"/>
              </a:buClr>
              <a:buFont typeface="Wingdings"/>
              <a:buChar char="§"/>
              <a:defRPr/>
            </a:pPr>
            <a:endParaRPr lang="en-US" altLang="ko-KR" dirty="0"/>
          </a:p>
          <a:p>
            <a:pPr marL="342900" lvl="1" indent="-342900">
              <a:buClr>
                <a:schemeClr val="tx2"/>
              </a:buClr>
              <a:buFont typeface="Wingdings"/>
              <a:buChar char="§"/>
              <a:defRPr/>
            </a:pPr>
            <a:r>
              <a:rPr lang="ko-KR" altLang="en-US" dirty="0"/>
              <a:t>고찰</a:t>
            </a:r>
            <a:endParaRPr lang="en-US" altLang="ko-KR" dirty="0"/>
          </a:p>
        </p:txBody>
      </p:sp>
    </p:spTree>
  </p:cSld>
  <p:clrMapOvr>
    <a:masterClrMapping/>
  </p:clrMapOvr>
  <p:transition advTm="1277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299381" y="376250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 dirty="0" err="1">
                <a:solidFill>
                  <a:schemeClr val="accent6">
                    <a:lumMod val="50000"/>
                  </a:schemeClr>
                </a:solidFill>
              </a:rPr>
              <a:t>캡스톤</a:t>
            </a: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 과정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642910" y="8572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  <p:sp>
        <p:nvSpPr>
          <p:cNvPr id="54" name="TextBox 53"/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graphicFrame>
        <p:nvGraphicFramePr>
          <p:cNvPr id="2" name="내용 개체 틀 1">
            <a:extLst>
              <a:ext uri="{FF2B5EF4-FFF2-40B4-BE49-F238E27FC236}">
                <a16:creationId xmlns:a16="http://schemas.microsoft.com/office/drawing/2014/main" id="{7978367F-B1A0-068E-9E27-2B83318C1F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5064181"/>
              </p:ext>
            </p:extLst>
          </p:nvPr>
        </p:nvGraphicFramePr>
        <p:xfrm>
          <a:off x="1331640" y="1987131"/>
          <a:ext cx="5801297" cy="271040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07044">
                  <a:extLst>
                    <a:ext uri="{9D8B030D-6E8A-4147-A177-3AD203B41FA5}">
                      <a16:colId xmlns:a16="http://schemas.microsoft.com/office/drawing/2014/main" val="2207639101"/>
                    </a:ext>
                  </a:extLst>
                </a:gridCol>
                <a:gridCol w="3094253">
                  <a:extLst>
                    <a:ext uri="{9D8B030D-6E8A-4147-A177-3AD203B41FA5}">
                      <a16:colId xmlns:a16="http://schemas.microsoft.com/office/drawing/2014/main" val="4276780359"/>
                    </a:ext>
                  </a:extLst>
                </a:gridCol>
              </a:tblGrid>
              <a:tr h="528059">
                <a:tc gridSpan="2"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54750395"/>
                  </a:ext>
                </a:extLst>
              </a:tr>
              <a:tr h="528059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 dirty="0">
                          <a:effectLst/>
                        </a:rPr>
                        <a:t>거리 범위 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5.4m~117.9m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5130582"/>
                  </a:ext>
                </a:extLst>
              </a:tr>
              <a:tr h="528059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kern="100" dirty="0">
                          <a:effectLst/>
                        </a:rPr>
                        <a:t>Dynamic Range</a:t>
                      </a:r>
                      <a:endParaRPr lang="ko-KR" altLang="ko-KR" sz="1600" kern="100" dirty="0">
                        <a:effectLst/>
                        <a:latin typeface="맑은 고딕" panose="020B0503020000020004" pitchFamily="50" charset="-127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00" dirty="0">
                          <a:effectLst/>
                        </a:rPr>
                        <a:t>60dB</a:t>
                      </a:r>
                      <a:endParaRPr lang="ko-KR" altLang="ko-KR" sz="1200" kern="100" dirty="0">
                        <a:effectLst/>
                        <a:latin typeface="맑은 고딕" panose="020B0503020000020004" pitchFamily="50" charset="-127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13517129"/>
                  </a:ext>
                </a:extLst>
              </a:tr>
              <a:tr h="528059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 dirty="0">
                          <a:effectLst/>
                        </a:rPr>
                        <a:t>해상도</a:t>
                      </a:r>
                      <a:r>
                        <a:rPr lang="en-US" sz="1600" kern="100" dirty="0">
                          <a:effectLst/>
                        </a:rPr>
                        <a:t>(Range resolution) 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200" kern="600" dirty="0">
                          <a:effectLst/>
                        </a:rPr>
                        <a:t>≤</a:t>
                      </a:r>
                      <a:r>
                        <a:rPr lang="en-US" sz="1200" kern="600" dirty="0">
                          <a:effectLst/>
                        </a:rPr>
                        <a:t> 15 [mm] (100 </a:t>
                      </a:r>
                      <a:r>
                        <a:rPr lang="en-US" sz="1200" kern="600" dirty="0" err="1">
                          <a:effectLst/>
                        </a:rPr>
                        <a:t>ps</a:t>
                      </a:r>
                      <a:r>
                        <a:rPr lang="en-US" sz="1200" kern="600" dirty="0">
                          <a:effectLst/>
                        </a:rPr>
                        <a:t> walk)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0693004"/>
                  </a:ext>
                </a:extLst>
              </a:tr>
              <a:tr h="528059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6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Band width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350MHz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69682527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68567260-13A9-A746-1A6C-25C931327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</p:cSld>
  <p:clrMapOvr>
    <a:masterClrMapping/>
  </p:clrMapOvr>
  <p:transition advTm="84585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EFA7B-04F0-90B7-2892-8CFD44866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360158BC-3573-8079-2019-217FD3B8A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06" y="365395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 dirty="0" err="1">
                <a:solidFill>
                  <a:schemeClr val="accent6">
                    <a:lumMod val="50000"/>
                  </a:schemeClr>
                </a:solidFill>
              </a:rPr>
              <a:t>캡스톤</a:t>
            </a: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 과정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B8E631D-9AF6-51A9-DBFA-7B1774733DD5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BE22E16-51BE-F62B-2037-9977533B6655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7A5B93-A412-D2D5-7142-71EEF565916F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9C199EE3-F069-83FE-997B-35A494A6E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35CF36E-8FEF-315C-C0C0-3E5F0EAEFFC7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pic>
        <p:nvPicPr>
          <p:cNvPr id="4" name="내용 개체 틀 3" descr="텍스트, 스크린샷, 폰트, 도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AAE4A0C-E6FC-A36A-C62A-72BE3F6BDB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71472" y="1261073"/>
            <a:ext cx="6456153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583163"/>
      </p:ext>
    </p:extLst>
  </p:cSld>
  <p:clrMapOvr>
    <a:masterClrMapping/>
  </p:clrMapOvr>
  <p:transition advTm="84585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AC593-C5BE-764A-CC33-335C2147D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6506E54A-3A2D-DC35-C435-9DDE8F655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06" y="365395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 dirty="0" err="1">
                <a:solidFill>
                  <a:schemeClr val="accent6">
                    <a:lumMod val="50000"/>
                  </a:schemeClr>
                </a:solidFill>
              </a:rPr>
              <a:t>캡스톤</a:t>
            </a: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 과정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B574AE0-0B03-BDAE-F3D1-0A1D514DED39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C13DED8-5479-2D5E-A682-DFB2F4DEB897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B03501-69B2-38A7-74EE-8303F7F98C5A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ABBE59B4-8377-935D-5674-7966D4F2E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C4CF724-154E-9A0D-C20F-1BFBA3D0954F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0537C6-4DD1-DFC0-6B82-3F5E8F129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5" name="그림 4" descr="텍스트, 도표, 평면도, 라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77E13B0-4340-116D-A35B-32780F9E8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606" y="1402748"/>
            <a:ext cx="8373757" cy="3503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008265"/>
      </p:ext>
    </p:extLst>
  </p:cSld>
  <p:clrMapOvr>
    <a:masterClrMapping/>
  </p:clrMapOvr>
  <p:transition advTm="84585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18C6E-7F08-7944-C291-5B07AADD6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1202EE54-FE9D-362D-B434-09925A94F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06" y="365395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 dirty="0" err="1">
                <a:solidFill>
                  <a:schemeClr val="accent6">
                    <a:lumMod val="50000"/>
                  </a:schemeClr>
                </a:solidFill>
              </a:rPr>
              <a:t>캡스톤</a:t>
            </a: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 과정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E10A3F1-6BDF-5F2A-CF39-926F8C3F8E59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7301BF8-639C-B178-230B-8FE15B76F3BC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43C4C5-31B1-E5A6-D244-4DB8F4FAC553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D4D74FFD-ABD7-5785-61EE-27B28954F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847C04F-AD7D-444D-37F6-3AAE97A1AA81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9525FE-7C09-1257-4CA7-260F75314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2" name="그림 1" descr="도표, 텍스트, 종이접기, 시각화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201D447-0FC3-C772-05C4-19623A2FD1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8" t="1761"/>
          <a:stretch>
            <a:fillRect/>
          </a:stretch>
        </p:blipFill>
        <p:spPr bwMode="auto">
          <a:xfrm>
            <a:off x="409634" y="1493043"/>
            <a:ext cx="8610772" cy="30108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24371343"/>
      </p:ext>
    </p:extLst>
  </p:cSld>
  <p:clrMapOvr>
    <a:masterClrMapping/>
  </p:clrMapOvr>
  <p:transition advTm="84585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71883-F641-3789-7285-0CE893B2D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1FF81833-3041-41FF-F68F-2EAD20594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06" y="365395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 dirty="0" err="1">
                <a:solidFill>
                  <a:schemeClr val="accent6">
                    <a:lumMod val="50000"/>
                  </a:schemeClr>
                </a:solidFill>
              </a:rPr>
              <a:t>캡스톤</a:t>
            </a: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 과정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B454824-5D00-1352-1A81-AFAEAE5114FD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70082E6-A7FE-9DE9-2F28-4DFD2EFA1424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04B77F-9897-7C3A-A9E0-F08223ECCD13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2D82E647-4E37-544D-6E2D-AFB3E9042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2D6B0D4-627B-08DE-BA1D-E6D6EAD7E008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6F24F7-6177-42F7-E5A5-0CCFEF9A6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DA2D513-EC75-2EC7-7297-02DEBF235D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1435935"/>
            <a:ext cx="5339859" cy="45812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47151931"/>
      </p:ext>
    </p:extLst>
  </p:cSld>
  <p:clrMapOvr>
    <a:masterClrMapping/>
  </p:clrMapOvr>
  <p:transition advTm="84585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79F7E-E59E-6A65-CA7A-A38EDB17B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4DA431C6-7BF3-0E90-80E8-C1D14953E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06" y="365395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 dirty="0" err="1">
                <a:solidFill>
                  <a:schemeClr val="accent6">
                    <a:lumMod val="50000"/>
                  </a:schemeClr>
                </a:solidFill>
              </a:rPr>
              <a:t>캡스톤</a:t>
            </a: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 과정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B48ACEA-7E18-7366-1029-ABFD7AC19ADF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1283735-6F99-A7F0-3AAD-0219998F6279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6E8337-AEE7-3E0C-433D-658806E39E55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C2CE7C7A-6024-2EF9-FE44-983FEEBF9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CA6A362-AC55-22DE-167F-3C56F256A083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5AC8D5-5F53-1692-86C3-212DAA478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A9E5E2B-CE93-0D84-BB69-FEFB8E4A4B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347733"/>
            <a:ext cx="4860153" cy="48446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74550862"/>
      </p:ext>
    </p:extLst>
  </p:cSld>
  <p:clrMapOvr>
    <a:masterClrMapping/>
  </p:clrMapOvr>
  <p:transition advTm="84585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A3A52-104D-2BE3-CD77-A1AE88EF7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6DCAC231-5CDF-502C-D3E0-8C95FDC9A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06" y="365395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튜닝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51968D5-E8ED-9061-862E-0EE3216D6A24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0F995BD-C9F4-4A83-57E8-7CC58745503D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9DA8CC-93A8-A663-5ACA-1F2B0C37A610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9DAAB667-DDAA-C147-DC0A-7B7939266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20804" y="6486622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6A9D386-F5C9-B097-8E33-D3907D701F66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DC78C138-5741-76AB-87BE-65DEF3A1C0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4421" y="5130879"/>
            <a:ext cx="4597099" cy="794183"/>
          </a:xfrm>
        </p:spPr>
      </p:pic>
      <p:pic>
        <p:nvPicPr>
          <p:cNvPr id="4" name="shape1038">
            <a:extLst>
              <a:ext uri="{FF2B5EF4-FFF2-40B4-BE49-F238E27FC236}">
                <a16:creationId xmlns:a16="http://schemas.microsoft.com/office/drawing/2014/main" id="{E63C81E2-8A8A-E166-62FF-66F5F1C51E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96686" y="1104434"/>
            <a:ext cx="5760640" cy="386540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6C629E9-8211-C408-2814-02CE937C3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8153" y="5080130"/>
            <a:ext cx="3904327" cy="937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128716"/>
      </p:ext>
    </p:extLst>
  </p:cSld>
  <p:clrMapOvr>
    <a:masterClrMapping/>
  </p:clrMapOvr>
  <p:transition advTm="84585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3AD7E-23B8-AC9A-3D1A-D9D6354C2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C90EE1E1-5DB8-5ACA-AC52-EA807E95B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06" y="365395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튜닝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3E742B8-EA96-8DAE-138A-B7CC1411C4D0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B429BC5-6AA9-56BF-6F96-1BAEAA8D7A7B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67043C-A73E-3F67-504B-30B1FF6755A7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31A66831-3674-161F-583E-C0C9792F9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D5B5E44-8DE4-EF57-9909-5B03EE173D3E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E50A8D-165E-CBE1-9418-82F8F1A2F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4" name="shape1030">
            <a:extLst>
              <a:ext uri="{FF2B5EF4-FFF2-40B4-BE49-F238E27FC236}">
                <a16:creationId xmlns:a16="http://schemas.microsoft.com/office/drawing/2014/main" id="{8445DF13-3AFF-5E74-66BA-CD8701F9CE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92764" y="1312280"/>
            <a:ext cx="6358471" cy="475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716392"/>
      </p:ext>
    </p:extLst>
  </p:cSld>
  <p:clrMapOvr>
    <a:masterClrMapping/>
  </p:clrMapOvr>
  <p:transition advTm="84585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81A21-90E1-C311-42A1-61C1BDF3D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D182298E-7955-3EFD-B588-FC01AB685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870" y="332656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튜닝</a:t>
            </a:r>
            <a:r>
              <a:rPr lang="en-US" altLang="ko-KR" sz="26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및 회로수정</a:t>
            </a:r>
            <a:r>
              <a:rPr lang="en-US" altLang="ko-KR" sz="2600" b="1" dirty="0">
                <a:solidFill>
                  <a:schemeClr val="accent6">
                    <a:lumMod val="50000"/>
                  </a:schemeClr>
                </a:solidFill>
              </a:rPr>
              <a:t>- opa695 output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72EECA1-5320-74CC-891A-798306C8965C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6F75ADC-0F9D-DE45-282E-48D63110BC0C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08142E-2C92-8783-C2C3-F4CFFAA6E516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E8737624-C368-A208-2CB7-8CB6244AD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CC306E3-4A2E-B1E2-11C9-0068667294F9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pic>
        <p:nvPicPr>
          <p:cNvPr id="14" name="내용 개체 틀 13">
            <a:extLst>
              <a:ext uri="{FF2B5EF4-FFF2-40B4-BE49-F238E27FC236}">
                <a16:creationId xmlns:a16="http://schemas.microsoft.com/office/drawing/2014/main" id="{86FA6A99-0937-3B0C-6E11-19881C5E75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14989"/>
          <a:stretch>
            <a:fillRect/>
          </a:stretch>
        </p:blipFill>
        <p:spPr>
          <a:xfrm>
            <a:off x="93827" y="1130199"/>
            <a:ext cx="4370161" cy="3232101"/>
          </a:xfr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91BADC7-6E43-8AFA-B3D6-A4DAAC742AC9}"/>
              </a:ext>
            </a:extLst>
          </p:cNvPr>
          <p:cNvSpPr txBox="1"/>
          <p:nvPr/>
        </p:nvSpPr>
        <p:spPr>
          <a:xfrm>
            <a:off x="1390265" y="4172139"/>
            <a:ext cx="2897074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(opa695 output) </a:t>
            </a:r>
            <a:endParaRPr lang="ko-KR" altLang="en-US" sz="1400" dirty="0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993840DC-2E7D-3FCE-9E05-F3C083AF7AF2}"/>
              </a:ext>
            </a:extLst>
          </p:cNvPr>
          <p:cNvCxnSpPr/>
          <p:nvPr/>
        </p:nvCxnSpPr>
        <p:spPr>
          <a:xfrm flipH="1" flipV="1">
            <a:off x="3855291" y="2061736"/>
            <a:ext cx="432048" cy="9361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30" name="그림 29" descr="텍스트, 스크린샷, 전자제품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C06B974-BAC2-7AFE-3254-9B7D936A11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45" t="17370" b="28387"/>
          <a:stretch>
            <a:fillRect/>
          </a:stretch>
        </p:blipFill>
        <p:spPr>
          <a:xfrm>
            <a:off x="4406279" y="1423426"/>
            <a:ext cx="4715747" cy="2230800"/>
          </a:xfrm>
          <a:prstGeom prst="rect">
            <a:avLst/>
          </a:prstGeom>
        </p:spPr>
      </p:pic>
      <p:sp>
        <p:nvSpPr>
          <p:cNvPr id="31" name="타원 30">
            <a:extLst>
              <a:ext uri="{FF2B5EF4-FFF2-40B4-BE49-F238E27FC236}">
                <a16:creationId xmlns:a16="http://schemas.microsoft.com/office/drawing/2014/main" id="{7DD99484-49CE-62D4-3F3E-116CA95A49D3}"/>
              </a:ext>
            </a:extLst>
          </p:cNvPr>
          <p:cNvSpPr/>
          <p:nvPr/>
        </p:nvSpPr>
        <p:spPr>
          <a:xfrm>
            <a:off x="6012160" y="1053624"/>
            <a:ext cx="2332232" cy="1944216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006B4A-2358-996C-C18C-9733B5ABF85B}"/>
              </a:ext>
            </a:extLst>
          </p:cNvPr>
          <p:cNvSpPr txBox="1"/>
          <p:nvPr/>
        </p:nvSpPr>
        <p:spPr>
          <a:xfrm>
            <a:off x="6012160" y="3736884"/>
            <a:ext cx="2897074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(OD filter – 2.0) </a:t>
            </a:r>
            <a:endParaRPr lang="ko-KR" altLang="en-US" sz="1400" dirty="0"/>
          </a:p>
        </p:txBody>
      </p:sp>
      <p:pic>
        <p:nvPicPr>
          <p:cNvPr id="3" name="그림 2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9A8A814-BB55-EC9D-615B-E7569EBFBE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62" b="32403"/>
          <a:stretch>
            <a:fillRect/>
          </a:stretch>
        </p:blipFill>
        <p:spPr>
          <a:xfrm>
            <a:off x="4382547" y="4147630"/>
            <a:ext cx="4633360" cy="18016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08C797-4A4A-D166-3384-3D1CAF91FD24}"/>
              </a:ext>
            </a:extLst>
          </p:cNvPr>
          <p:cNvSpPr txBox="1"/>
          <p:nvPr/>
        </p:nvSpPr>
        <p:spPr>
          <a:xfrm>
            <a:off x="5857884" y="6049998"/>
            <a:ext cx="2897074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(comparator output) 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505960728"/>
      </p:ext>
    </p:extLst>
  </p:cSld>
  <p:clrMapOvr>
    <a:masterClrMapping/>
  </p:clrMapOvr>
  <p:transition advTm="84585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38341-4E7C-FFFA-2924-AEF42530F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F2DB4D79-8963-9569-35A8-C273CDC78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870" y="332656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튜닝</a:t>
            </a:r>
            <a:r>
              <a:rPr lang="en-US" altLang="ko-KR" sz="26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및 회로수정</a:t>
            </a:r>
            <a:r>
              <a:rPr lang="en-US" altLang="ko-KR" sz="2600" b="1" dirty="0">
                <a:solidFill>
                  <a:schemeClr val="accent6">
                    <a:lumMod val="50000"/>
                  </a:schemeClr>
                </a:solidFill>
              </a:rPr>
              <a:t>- opa695 output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AD14D1C-6226-146D-B9E3-1ABE162EFB9F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644C603-BD9F-BE87-648D-B41E75AD4DB0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61E2D3-53E5-C185-038C-A603F0C343B7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 dirty="0">
                <a:latin typeface="Times New Roman"/>
                <a:cs typeface="Times New Roman"/>
              </a:rPr>
              <a:t>Mixed-signal System Design Laboratory (</a:t>
            </a:r>
            <a:r>
              <a:rPr lang="en-US" altLang="ko-KR" sz="1100" b="1" i="1" dirty="0" err="1">
                <a:latin typeface="Times New Roman"/>
                <a:cs typeface="Times New Roman"/>
              </a:rPr>
              <a:t>MSDLab</a:t>
            </a:r>
            <a:r>
              <a:rPr lang="en-US" altLang="ko-KR" sz="1100" b="1" i="1" dirty="0">
                <a:latin typeface="Times New Roman"/>
                <a:cs typeface="Times New Roman"/>
              </a:rPr>
              <a:t>.)</a:t>
            </a:r>
            <a:endParaRPr lang="ko-KR" altLang="en-US" sz="1100" b="1" i="1" dirty="0">
              <a:latin typeface="Times New Roman"/>
              <a:cs typeface="Times New Roman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BB3FCB2-3264-4FCF-4FC2-E8BF91148939}"/>
              </a:ext>
            </a:extLst>
          </p:cNvPr>
          <p:cNvSpPr txBox="1"/>
          <p:nvPr/>
        </p:nvSpPr>
        <p:spPr>
          <a:xfrm>
            <a:off x="3588011" y="1145630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486D9C-B562-3742-1126-DE437586C946}"/>
              </a:ext>
            </a:extLst>
          </p:cNvPr>
          <p:cNvSpPr txBox="1"/>
          <p:nvPr/>
        </p:nvSpPr>
        <p:spPr>
          <a:xfrm>
            <a:off x="175907" y="3883019"/>
            <a:ext cx="2897074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(opa695 output Riso =100ohm) </a:t>
            </a:r>
            <a:endParaRPr lang="ko-KR" altLang="en-US" sz="1400" dirty="0"/>
          </a:p>
        </p:txBody>
      </p:sp>
      <p:pic>
        <p:nvPicPr>
          <p:cNvPr id="13" name="그림 12" descr="텍스트, 스크린샷, 전자제품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FDEC2AB-3949-ED91-01CA-9DC951E552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77" t="16705" r="423" b="29000"/>
          <a:stretch>
            <a:fillRect/>
          </a:stretch>
        </p:blipFill>
        <p:spPr>
          <a:xfrm>
            <a:off x="3524075" y="990475"/>
            <a:ext cx="5120185" cy="24069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98631E0-E5F8-B6BC-C557-25BB46F338C4}"/>
              </a:ext>
            </a:extLst>
          </p:cNvPr>
          <p:cNvSpPr txBox="1"/>
          <p:nvPr/>
        </p:nvSpPr>
        <p:spPr>
          <a:xfrm>
            <a:off x="4969370" y="3373791"/>
            <a:ext cx="45885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(OD filter – 2.0) </a:t>
            </a:r>
            <a:endParaRPr lang="ko-KR" altLang="en-US" sz="1800" dirty="0"/>
          </a:p>
        </p:txBody>
      </p:sp>
      <p:pic>
        <p:nvPicPr>
          <p:cNvPr id="23" name="그림 22" descr="텍스트, 전자제품, 스크린샷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66778C0-E475-C592-01FD-267977419A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9" t="16705" r="1236" b="29000"/>
          <a:stretch>
            <a:fillRect/>
          </a:stretch>
        </p:blipFill>
        <p:spPr>
          <a:xfrm>
            <a:off x="3488398" y="3802693"/>
            <a:ext cx="5191538" cy="248568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1005F027-9173-2A00-7FAF-D55BD4F0195A}"/>
              </a:ext>
            </a:extLst>
          </p:cNvPr>
          <p:cNvSpPr txBox="1"/>
          <p:nvPr/>
        </p:nvSpPr>
        <p:spPr>
          <a:xfrm>
            <a:off x="5227157" y="6207975"/>
            <a:ext cx="51915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(OD filter – 3.0) </a:t>
            </a:r>
            <a:endParaRPr lang="ko-KR" altLang="en-US" sz="1800" dirty="0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90790506-059E-0D35-1D11-4699526466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02" y="1176354"/>
            <a:ext cx="3293976" cy="2601857"/>
          </a:xfrm>
          <a:prstGeom prst="rect">
            <a:avLst/>
          </a:prstGeom>
        </p:spPr>
      </p:pic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7211594A-4DD5-8085-629D-2CD313BC8152}"/>
              </a:ext>
            </a:extLst>
          </p:cNvPr>
          <p:cNvCxnSpPr/>
          <p:nvPr/>
        </p:nvCxnSpPr>
        <p:spPr>
          <a:xfrm flipH="1" flipV="1">
            <a:off x="2670277" y="1805347"/>
            <a:ext cx="432048" cy="9361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4" name="타원 33">
            <a:extLst>
              <a:ext uri="{FF2B5EF4-FFF2-40B4-BE49-F238E27FC236}">
                <a16:creationId xmlns:a16="http://schemas.microsoft.com/office/drawing/2014/main" id="{60318680-848A-3EA4-52EE-492F82E336D3}"/>
              </a:ext>
            </a:extLst>
          </p:cNvPr>
          <p:cNvSpPr/>
          <p:nvPr/>
        </p:nvSpPr>
        <p:spPr>
          <a:xfrm>
            <a:off x="1727851" y="1253488"/>
            <a:ext cx="1224136" cy="99891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3403523"/>
      </p:ext>
    </p:extLst>
  </p:cSld>
  <p:clrMapOvr>
    <a:masterClrMapping/>
  </p:clrMapOvr>
  <p:transition advTm="84585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569EB-35CA-4914-8C4C-5567241E4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EBE506FA-54DE-B1A3-E0E0-080CBCC30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359" y="1358091"/>
            <a:ext cx="3806577" cy="2514916"/>
          </a:xfrm>
          <a:prstGeom prst="rect">
            <a:avLst/>
          </a:prstGeom>
        </p:spPr>
      </p:pic>
      <p:sp>
        <p:nvSpPr>
          <p:cNvPr id="6" name="제목 5">
            <a:extLst>
              <a:ext uri="{FF2B5EF4-FFF2-40B4-BE49-F238E27FC236}">
                <a16:creationId xmlns:a16="http://schemas.microsoft.com/office/drawing/2014/main" id="{69ABDCD5-99B5-B047-B441-9432EE9DD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870" y="332656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튜닝</a:t>
            </a:r>
            <a:r>
              <a:rPr lang="en-US" altLang="ko-KR" sz="26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및 회로수정</a:t>
            </a:r>
            <a:r>
              <a:rPr lang="en-US" altLang="ko-KR" sz="2600" b="1" dirty="0">
                <a:solidFill>
                  <a:schemeClr val="accent6">
                    <a:lumMod val="50000"/>
                  </a:schemeClr>
                </a:solidFill>
              </a:rPr>
              <a:t>- opa695 output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2C6E06A-5ACC-85BD-E1AC-5FA9CF65D4C4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7623B3D-95E5-8A79-2763-574358B8B507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DD75B6-7693-483F-0242-166A00B34681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7D6A6566-60AC-AF7A-9DB8-5B2CDCD50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1E87152-A5FA-907D-5F38-C7DCFEB843F6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568751-07A0-DC32-DB46-BDCE4A574D50}"/>
              </a:ext>
            </a:extLst>
          </p:cNvPr>
          <p:cNvSpPr txBox="1"/>
          <p:nvPr/>
        </p:nvSpPr>
        <p:spPr>
          <a:xfrm>
            <a:off x="314870" y="3762945"/>
            <a:ext cx="3897090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(opa695 output 50ohm</a:t>
            </a:r>
            <a:r>
              <a:rPr lang="ko-KR" altLang="en-US" sz="1400" dirty="0"/>
              <a:t>추가 </a:t>
            </a:r>
            <a:r>
              <a:rPr lang="ko-KR" altLang="en-US" sz="1400" dirty="0" err="1"/>
              <a:t>특성임피던스</a:t>
            </a:r>
            <a:r>
              <a:rPr lang="en-US" altLang="ko-KR" sz="1400" dirty="0"/>
              <a:t>) </a:t>
            </a:r>
            <a:endParaRPr lang="ko-KR" altLang="en-US" sz="1400" dirty="0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2855477C-A237-FB42-A134-BB8D59B4F637}"/>
              </a:ext>
            </a:extLst>
          </p:cNvPr>
          <p:cNvCxnSpPr>
            <a:cxnSpLocks/>
            <a:stCxn id="22" idx="6"/>
          </p:cNvCxnSpPr>
          <p:nvPr/>
        </p:nvCxnSpPr>
        <p:spPr>
          <a:xfrm flipH="1" flipV="1">
            <a:off x="3563888" y="1929535"/>
            <a:ext cx="526608" cy="28708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타원 21">
            <a:extLst>
              <a:ext uri="{FF2B5EF4-FFF2-40B4-BE49-F238E27FC236}">
                <a16:creationId xmlns:a16="http://schemas.microsoft.com/office/drawing/2014/main" id="{B0EF2183-51D2-4E89-5F6F-F3B47D9397E4}"/>
              </a:ext>
            </a:extLst>
          </p:cNvPr>
          <p:cNvSpPr/>
          <p:nvPr/>
        </p:nvSpPr>
        <p:spPr>
          <a:xfrm>
            <a:off x="2866360" y="1717163"/>
            <a:ext cx="1224136" cy="99891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 descr="텍스트, 전자제품, 스크린샷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A34FAA3-C883-68C8-8647-D44FAA94C2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36" t="16640" r="2326" b="29000"/>
          <a:stretch>
            <a:fillRect/>
          </a:stretch>
        </p:blipFill>
        <p:spPr>
          <a:xfrm>
            <a:off x="4299493" y="1209142"/>
            <a:ext cx="4673294" cy="230425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2C1214F-FF8D-A7D0-3FDE-3081AA1C295B}"/>
              </a:ext>
            </a:extLst>
          </p:cNvPr>
          <p:cNvSpPr txBox="1"/>
          <p:nvPr/>
        </p:nvSpPr>
        <p:spPr>
          <a:xfrm>
            <a:off x="5652120" y="3547501"/>
            <a:ext cx="45885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(OD filter – 3.0) 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948132580"/>
      </p:ext>
    </p:extLst>
  </p:cSld>
  <p:clrMapOvr>
    <a:masterClrMapping/>
  </p:clrMapOvr>
  <p:transition advTm="84585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9625A-77D3-9D16-4B2B-5FC604513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16AEF58-5F3F-CEF4-BCB9-0C9AB9CC0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1" y="1270039"/>
            <a:ext cx="3697289" cy="2490402"/>
          </a:xfrm>
          <a:prstGeom prst="rect">
            <a:avLst/>
          </a:prstGeom>
        </p:spPr>
      </p:pic>
      <p:sp>
        <p:nvSpPr>
          <p:cNvPr id="6" name="제목 5">
            <a:extLst>
              <a:ext uri="{FF2B5EF4-FFF2-40B4-BE49-F238E27FC236}">
                <a16:creationId xmlns:a16="http://schemas.microsoft.com/office/drawing/2014/main" id="{91FD32D7-ACBC-93AE-7728-82AD877B7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870" y="332656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튜닝</a:t>
            </a:r>
            <a:r>
              <a:rPr lang="en-US" altLang="ko-KR" sz="26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및 회로수정</a:t>
            </a:r>
            <a:r>
              <a:rPr lang="en-US" altLang="ko-KR" sz="2600" b="1" dirty="0">
                <a:solidFill>
                  <a:schemeClr val="accent6">
                    <a:lumMod val="50000"/>
                  </a:schemeClr>
                </a:solidFill>
              </a:rPr>
              <a:t>- opa695 output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2EE50E6-A808-C40F-2DF8-2E2405E635D5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E0E15F4-BCD4-63EC-DC52-42948F572E22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8F82BE-7074-B9A4-F1EF-4866D6989B7B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026901A7-D89C-827E-5F1B-5B67BBC0B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7358166-FECB-5EF6-4403-33B8B2A6FA47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E60621-7E5E-B46B-60B3-F9213DC66D7F}"/>
              </a:ext>
            </a:extLst>
          </p:cNvPr>
          <p:cNvSpPr txBox="1"/>
          <p:nvPr/>
        </p:nvSpPr>
        <p:spPr>
          <a:xfrm>
            <a:off x="662299" y="3617467"/>
            <a:ext cx="3715867" cy="5232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(opa695 output lowpass filter</a:t>
            </a:r>
          </a:p>
          <a:p>
            <a:r>
              <a:rPr lang="en-US" altLang="ko-KR" sz="1400" dirty="0"/>
              <a:t>100ohm, 5.6pF) </a:t>
            </a:r>
            <a:endParaRPr lang="ko-KR" altLang="en-US" sz="1400" dirty="0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AE219C3D-9A94-5970-C53C-E0B6E6E9FF20}"/>
              </a:ext>
            </a:extLst>
          </p:cNvPr>
          <p:cNvCxnSpPr>
            <a:cxnSpLocks/>
          </p:cNvCxnSpPr>
          <p:nvPr/>
        </p:nvCxnSpPr>
        <p:spPr>
          <a:xfrm flipH="1" flipV="1">
            <a:off x="3287256" y="1796930"/>
            <a:ext cx="789937" cy="4585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타원 21">
            <a:extLst>
              <a:ext uri="{FF2B5EF4-FFF2-40B4-BE49-F238E27FC236}">
                <a16:creationId xmlns:a16="http://schemas.microsoft.com/office/drawing/2014/main" id="{E04F1D3F-3753-1651-FE71-CD1A5C8BE3BB}"/>
              </a:ext>
            </a:extLst>
          </p:cNvPr>
          <p:cNvSpPr/>
          <p:nvPr/>
        </p:nvSpPr>
        <p:spPr>
          <a:xfrm>
            <a:off x="2979537" y="1588051"/>
            <a:ext cx="615439" cy="6673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 descr="텍스트, 스크린샷, 전자제품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E47FE5C-33AE-D5D4-4A1F-2FFB1E66CE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83" t="16015" r="6" b="28245"/>
          <a:stretch>
            <a:fillRect/>
          </a:stretch>
        </p:blipFill>
        <p:spPr>
          <a:xfrm>
            <a:off x="4356188" y="1232756"/>
            <a:ext cx="4501678" cy="2160240"/>
          </a:xfrm>
          <a:prstGeom prst="rect">
            <a:avLst/>
          </a:prstGeom>
        </p:spPr>
      </p:pic>
      <p:pic>
        <p:nvPicPr>
          <p:cNvPr id="25" name="그림 24" descr="텍스트, 스크린샷, 전자제품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FB642AA-23C8-C641-8190-C86392ABBB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77" t="16400" r="329" b="29001"/>
          <a:stretch>
            <a:fillRect/>
          </a:stretch>
        </p:blipFill>
        <p:spPr>
          <a:xfrm>
            <a:off x="4299493" y="3857046"/>
            <a:ext cx="4702177" cy="222052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F0E9874-56DA-5DB3-715C-93AE0E39014C}"/>
              </a:ext>
            </a:extLst>
          </p:cNvPr>
          <p:cNvSpPr txBox="1"/>
          <p:nvPr/>
        </p:nvSpPr>
        <p:spPr>
          <a:xfrm>
            <a:off x="5580112" y="3416363"/>
            <a:ext cx="4591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(OD filter – 2.0) </a:t>
            </a:r>
            <a:endParaRPr lang="ko-KR" altLang="en-US" sz="1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F78B40-6E44-3F48-C451-05FED10A0488}"/>
              </a:ext>
            </a:extLst>
          </p:cNvPr>
          <p:cNvSpPr txBox="1"/>
          <p:nvPr/>
        </p:nvSpPr>
        <p:spPr>
          <a:xfrm>
            <a:off x="5724128" y="6078146"/>
            <a:ext cx="5086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(OD filter – 3.0) 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312903782"/>
      </p:ext>
    </p:extLst>
  </p:cSld>
  <p:clrMapOvr>
    <a:masterClrMapping/>
  </p:clrMapOvr>
  <p:transition advTm="84585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85488-92C7-D568-0F66-22D028A41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8CEFD5C7-BD96-FB90-0635-1DF66C054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870" y="332656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튜닝</a:t>
            </a:r>
            <a:r>
              <a:rPr lang="en-US" altLang="ko-KR" sz="26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및 회로수정</a:t>
            </a:r>
            <a:r>
              <a:rPr lang="en-US" altLang="ko-KR" sz="2600" b="1" dirty="0">
                <a:solidFill>
                  <a:schemeClr val="accent6">
                    <a:lumMod val="50000"/>
                  </a:schemeClr>
                </a:solidFill>
              </a:rPr>
              <a:t>- opa695 output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7D00B8C-9E82-C625-214D-D79089288726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EE28C53-57E1-9ADE-194A-1DBDB02F2110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3D0B49-1F47-5633-C3E0-D45F54EAB4A6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0A0E494D-D086-935D-7157-F1E044E0B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CF30825-27EB-684B-95AC-469CB5701F4A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C4A014-3306-66CB-4F71-E8E8EE151C55}"/>
              </a:ext>
            </a:extLst>
          </p:cNvPr>
          <p:cNvSpPr txBox="1"/>
          <p:nvPr/>
        </p:nvSpPr>
        <p:spPr>
          <a:xfrm>
            <a:off x="4968908" y="4007037"/>
            <a:ext cx="4210827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(opa695 output lowpass filter 100ohm, 5.6pF) </a:t>
            </a:r>
            <a:endParaRPr lang="ko-KR" altLang="en-US" sz="1400" dirty="0"/>
          </a:p>
        </p:txBody>
      </p:sp>
      <p:pic>
        <p:nvPicPr>
          <p:cNvPr id="26" name="그림 25" descr="텍스트, 스크린샷, 전자제품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94619AD-E0FD-1F80-6BFD-A4DF8F6C1F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83" t="16015" r="6" b="28245"/>
          <a:stretch>
            <a:fillRect/>
          </a:stretch>
        </p:blipFill>
        <p:spPr>
          <a:xfrm>
            <a:off x="4642322" y="1468223"/>
            <a:ext cx="4501678" cy="21602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AA370B7-5E1F-CE5C-3B3F-9F3CD9C434BA}"/>
              </a:ext>
            </a:extLst>
          </p:cNvPr>
          <p:cNvSpPr txBox="1"/>
          <p:nvPr/>
        </p:nvSpPr>
        <p:spPr>
          <a:xfrm>
            <a:off x="5940152" y="3747658"/>
            <a:ext cx="4591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(OD filter – 2.0) </a:t>
            </a:r>
            <a:endParaRPr lang="ko-KR" altLang="en-US" sz="1800" dirty="0"/>
          </a:p>
        </p:txBody>
      </p:sp>
      <p:pic>
        <p:nvPicPr>
          <p:cNvPr id="2" name="그림 1" descr="텍스트, 스크린샷, 전자제품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122E23C-3380-DBD5-1D92-4E332B6620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45" t="17370" b="28387"/>
          <a:stretch>
            <a:fillRect/>
          </a:stretch>
        </p:blipFill>
        <p:spPr>
          <a:xfrm>
            <a:off x="105078" y="1487371"/>
            <a:ext cx="4566588" cy="21602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C26390-B87E-7208-3E86-EFA27AC0D672}"/>
              </a:ext>
            </a:extLst>
          </p:cNvPr>
          <p:cNvSpPr txBox="1"/>
          <p:nvPr/>
        </p:nvSpPr>
        <p:spPr>
          <a:xfrm>
            <a:off x="1403648" y="3703722"/>
            <a:ext cx="4591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(OD filter – 2.0) </a:t>
            </a:r>
            <a:endParaRPr lang="ko-KR" altLang="en-US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FD78AB-2A0D-6EB4-4534-BB4786C9A916}"/>
              </a:ext>
            </a:extLst>
          </p:cNvPr>
          <p:cNvSpPr txBox="1"/>
          <p:nvPr/>
        </p:nvSpPr>
        <p:spPr>
          <a:xfrm>
            <a:off x="1927157" y="4100470"/>
            <a:ext cx="3715867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(</a:t>
            </a:r>
            <a:r>
              <a:rPr lang="ko-KR" altLang="en-US" sz="1400" dirty="0"/>
              <a:t>변경 전</a:t>
            </a:r>
            <a:r>
              <a:rPr lang="en-US" altLang="ko-KR" sz="1400" dirty="0"/>
              <a:t>) 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372624402"/>
      </p:ext>
    </p:extLst>
  </p:cSld>
  <p:clrMapOvr>
    <a:masterClrMapping/>
  </p:clrMapOvr>
  <p:transition advTm="84585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EF8C8-76A4-BA81-B45B-ACE030EC5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63D96BFA-7957-31AA-4364-7F93FCA16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06" y="365395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튜닝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F58FF35-418C-1639-B3CF-5727737F9C60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79ACCA3-FE37-CF42-BB1B-782F9F2493C5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C32D35-175E-1442-16B6-41C4B873C42E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E71EC861-F644-1CB6-A8C1-409C3CDCE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6111871-5C05-28DF-D9AE-2763EEF3B75F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C940C6-0DC8-5BCC-E6C5-74BBDCBC3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4" name="그림 3" descr="도표, 라인, 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36D586B-BC54-D907-06FC-603874DDCF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333"/>
          <a:stretch>
            <a:fillRect/>
          </a:stretch>
        </p:blipFill>
        <p:spPr>
          <a:xfrm>
            <a:off x="1691680" y="1228118"/>
            <a:ext cx="5544616" cy="509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948410"/>
      </p:ext>
    </p:extLst>
  </p:cSld>
  <p:clrMapOvr>
    <a:masterClrMapping/>
  </p:clrMapOvr>
  <p:transition advTm="84585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88383-7051-47B7-A3AA-FB0F8B803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5D67ACF2-6FD8-CD35-CC3C-49447C60A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06" y="365395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최종결과 </a:t>
            </a:r>
            <a:r>
              <a:rPr lang="en-US" altLang="ko-KR" sz="2600" b="1" dirty="0">
                <a:solidFill>
                  <a:schemeClr val="accent6">
                    <a:lumMod val="50000"/>
                  </a:schemeClr>
                </a:solidFill>
              </a:rPr>
              <a:t>1.6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5EAA786-95CC-B3E4-2E8E-85E0E4E7DE08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47D4823-3F59-1FF9-4ACC-D064213813B3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01073F-D1FB-5BDD-4E15-4D8C749423AE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DFBCCACE-09A8-60C3-3496-314F25ABC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C823C12-0664-091C-9AC9-ABF7D8DF99C8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pic>
        <p:nvPicPr>
          <p:cNvPr id="5" name="내용 개체 틀 4" descr="텍스트, 스크린샷, 전자제품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643C9E-BBE2-8786-CBCF-9B862131DD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1609316"/>
            <a:ext cx="5847206" cy="4525963"/>
          </a:xfrm>
        </p:spPr>
      </p:pic>
    </p:spTree>
    <p:extLst>
      <p:ext uri="{BB962C8B-B14F-4D97-AF65-F5344CB8AC3E}">
        <p14:creationId xmlns:p14="http://schemas.microsoft.com/office/powerpoint/2010/main" val="887008934"/>
      </p:ext>
    </p:extLst>
  </p:cSld>
  <p:clrMapOvr>
    <a:masterClrMapping/>
  </p:clrMapOvr>
  <p:transition advTm="84585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3EA4F-0BB5-B1E3-B89F-119C462B0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C821FB74-1639-052E-86C8-863310974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06" y="365395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최종결과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22AC454-C159-F63B-0D29-ABC5AA83109E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53A7BD0-6F2C-CDDC-2203-52660E6A50E2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6C23C9-4E88-8462-BF5B-9D5EC63E34DA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DE1F3E9A-55D2-2625-5B4D-7E0BB3AB4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0CAEA4D-1600-9464-4C29-321CDA7A1841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pic>
        <p:nvPicPr>
          <p:cNvPr id="4" name="내용 개체 틀 3" descr="텍스트, 스크린샷, 전자제품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C3FBA5B-6B81-E707-3C2C-17DA57121C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384" y="1340769"/>
            <a:ext cx="6041559" cy="4676400"/>
          </a:xfrm>
        </p:spPr>
      </p:pic>
    </p:spTree>
    <p:extLst>
      <p:ext uri="{BB962C8B-B14F-4D97-AF65-F5344CB8AC3E}">
        <p14:creationId xmlns:p14="http://schemas.microsoft.com/office/powerpoint/2010/main" val="414409993"/>
      </p:ext>
    </p:extLst>
  </p:cSld>
  <p:clrMapOvr>
    <a:masterClrMapping/>
  </p:clrMapOvr>
  <p:transition advTm="84585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E9B24-1F86-CD96-921A-9E90E3475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F91B97B-F795-78F4-F120-0B8D5ED9F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06" y="365395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최종결과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6993AF0-792A-5FB0-EAEE-541106A5C602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3CEF298-D4CC-DB07-4F1E-A298714AB996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2996CD-3A67-388C-73F4-F11065A8DD8D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6F2E1832-5B16-5872-F40E-574448D1F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DF1B17C-3A54-09F7-2580-09D7D87B4BB3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pic>
        <p:nvPicPr>
          <p:cNvPr id="4" name="내용 개체 틀 3" descr="텍스트, 스크린샷, 전자제품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788C607-BF8A-264F-DDE2-2223F07619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1423426"/>
            <a:ext cx="5847206" cy="4525963"/>
          </a:xfrm>
        </p:spPr>
      </p:pic>
    </p:spTree>
    <p:extLst>
      <p:ext uri="{BB962C8B-B14F-4D97-AF65-F5344CB8AC3E}">
        <p14:creationId xmlns:p14="http://schemas.microsoft.com/office/powerpoint/2010/main" val="4186714774"/>
      </p:ext>
    </p:extLst>
  </p:cSld>
  <p:clrMapOvr>
    <a:masterClrMapping/>
  </p:clrMapOvr>
  <p:transition advTm="84585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B1E04-1222-9228-2DCB-C1F48BCCC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A3AE824-7E1A-9E63-CAF7-07F76BE6A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06" y="365395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최종결과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A6ED563-950E-A1A9-D3E6-F6D1CED99AF3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F85FFE8-DDEC-DD81-BD45-F5FC011061CF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F91696-B027-879F-9E67-F0DCED62870B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8CAD830A-BC71-3300-BDF5-55ED7516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8AA93EC-DAFF-25C9-B4BC-1073C9CECE67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pic>
        <p:nvPicPr>
          <p:cNvPr id="4" name="내용 개체 틀 3" descr="텍스트, 스크린샷, 전자제품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1E4F29E-E828-0D37-9AB1-9F70D225F4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397" y="1600200"/>
            <a:ext cx="5847206" cy="4525963"/>
          </a:xfrm>
        </p:spPr>
      </p:pic>
    </p:spTree>
    <p:extLst>
      <p:ext uri="{BB962C8B-B14F-4D97-AF65-F5344CB8AC3E}">
        <p14:creationId xmlns:p14="http://schemas.microsoft.com/office/powerpoint/2010/main" val="2412566610"/>
      </p:ext>
    </p:extLst>
  </p:cSld>
  <p:clrMapOvr>
    <a:masterClrMapping/>
  </p:clrMapOvr>
  <p:transition advTm="84585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07845-9F3A-04CB-33F0-03B992903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AC03279E-C7F8-80AD-A6FF-ACE5AC664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06" y="365395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최종결과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B47F93C-DF3A-F69D-D993-990D124B75F8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907FF2E-1633-0CDA-3A03-1FD0AB3404A1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16137B-9FAF-A333-49D4-A5C22B92EAB7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95CF7CA9-9970-A879-2EAF-6EDC6724A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D9611F2-CCD2-9F33-83A9-9526FA4D410A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pic>
        <p:nvPicPr>
          <p:cNvPr id="4" name="내용 개체 틀 3" descr="텍스트, 스크린샷, 전자제품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91CBB83-DFA3-7146-7735-0AA15BC202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385" y="1423426"/>
            <a:ext cx="5847206" cy="4525963"/>
          </a:xfrm>
        </p:spPr>
      </p:pic>
    </p:spTree>
    <p:extLst>
      <p:ext uri="{BB962C8B-B14F-4D97-AF65-F5344CB8AC3E}">
        <p14:creationId xmlns:p14="http://schemas.microsoft.com/office/powerpoint/2010/main" val="386714586"/>
      </p:ext>
    </p:extLst>
  </p:cSld>
  <p:clrMapOvr>
    <a:masterClrMapping/>
  </p:clrMapOvr>
  <p:transition advTm="84585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FF25D-B702-8932-962D-7AABC5C0D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8FED42F3-C41C-0B50-E473-B91C719A9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06" y="365395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최종결과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98F4AE0-4DE0-42F7-AB51-9AFDD33E74FE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385CB46-C0B3-5F82-2721-3D8D738CED12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974BF6-C384-3DF2-78A3-A9BE54778E12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7D849744-460C-DE62-6E94-F4D994064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22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29EA7D6-7045-FA5A-C252-F6FACA95E5F4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pic>
        <p:nvPicPr>
          <p:cNvPr id="4" name="내용 개체 틀 3" descr="텍스트, 스크린샷, 전자제품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907B689-EEAE-CA32-FE20-76202FD51D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1534369"/>
            <a:ext cx="5847206" cy="4525963"/>
          </a:xfrm>
        </p:spPr>
      </p:pic>
    </p:spTree>
    <p:extLst>
      <p:ext uri="{BB962C8B-B14F-4D97-AF65-F5344CB8AC3E}">
        <p14:creationId xmlns:p14="http://schemas.microsoft.com/office/powerpoint/2010/main" val="740706257"/>
      </p:ext>
    </p:extLst>
  </p:cSld>
  <p:clrMapOvr>
    <a:masterClrMapping/>
  </p:clrMapOvr>
  <p:transition advTm="84585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87439-76C9-71D9-1973-6303FFE40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630683B8-6256-245D-2A20-B0F68A402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06" y="365395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최종결과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5FA1E9D-BF5D-A097-83FB-A042E398596F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393FE6C-5AAC-3391-3766-02105E60CC3B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7AE76C-5546-2EED-33A6-5C6771D0B7B1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FE5210A5-B225-041B-1925-D06CBCA71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23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B082AA8-A11A-B0EB-9523-D6DC742E860F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3B57CCF-B282-4672-872F-D9D37E99D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1412776"/>
            <a:ext cx="7558078" cy="36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034029"/>
      </p:ext>
    </p:extLst>
  </p:cSld>
  <p:clrMapOvr>
    <a:masterClrMapping/>
  </p:clrMapOvr>
  <p:transition advTm="84585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A2388-1712-D5A4-6831-C2CD7972B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383BB1F6-FD30-56F8-5606-20A8D18E0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06" y="365395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최종결과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E8D9FB3-4D3A-6F01-5839-14764D51249A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8ABEEF4-5BEA-375B-9E51-C2D72806BA06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C31883-0933-59DD-97A5-E58B17DB3429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5BB69141-BE96-5608-70A9-157F9C945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24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A1E35FB-D750-DC98-A93C-48F7B86A171A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7467CE-6705-2F28-A95B-B050D9850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E2209AD-471E-6B14-2245-AFFBC47CC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462" y="1605136"/>
            <a:ext cx="8045283" cy="3880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437683"/>
      </p:ext>
    </p:extLst>
  </p:cSld>
  <p:clrMapOvr>
    <a:masterClrMapping/>
  </p:clrMapOvr>
  <p:transition advTm="84585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679ED-0C08-6F0D-5F81-55BAC6F5A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E53BA05D-7100-60D2-1A99-6321BE202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06" y="365395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최종결과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1FE6BDB-0BC3-8C31-E189-5D13DEEF7A3D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7F44502-DFD9-4AD5-23E5-8DA6049628D1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C64AD0-3778-AD98-F9AA-33A5137BE03D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4D54A025-9DBE-B3CD-910C-F812E6282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25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BEAF7C0-E908-6745-41E5-580DDDA296AF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236E17F-950D-3804-F032-B80D81CEBD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989299"/>
              </p:ext>
            </p:extLst>
          </p:nvPr>
        </p:nvGraphicFramePr>
        <p:xfrm>
          <a:off x="645531" y="1340768"/>
          <a:ext cx="2664297" cy="403244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43234">
                  <a:extLst>
                    <a:ext uri="{9D8B030D-6E8A-4147-A177-3AD203B41FA5}">
                      <a16:colId xmlns:a16="http://schemas.microsoft.com/office/drawing/2014/main" val="434377849"/>
                    </a:ext>
                  </a:extLst>
                </a:gridCol>
                <a:gridCol w="1421063">
                  <a:extLst>
                    <a:ext uri="{9D8B030D-6E8A-4147-A177-3AD203B41FA5}">
                      <a16:colId xmlns:a16="http://schemas.microsoft.com/office/drawing/2014/main" val="1200340619"/>
                    </a:ext>
                  </a:extLst>
                </a:gridCol>
              </a:tblGrid>
              <a:tr h="575388"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Rise time ( </a:t>
                      </a:r>
                      <a:r>
                        <a:rPr lang="ko-KR" altLang="en-US" sz="1000" kern="1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오실로</a:t>
                      </a:r>
                      <a:r>
                        <a:rPr lang="ko-KR" altLang="en-US" sz="10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kern="1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스코프</a:t>
                      </a:r>
                      <a:r>
                        <a:rPr lang="ko-KR" altLang="en-US" sz="10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기준</a:t>
                      </a:r>
                      <a:r>
                        <a:rPr lang="en-US" altLang="ko-KR" sz="10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) </a:t>
                      </a:r>
                    </a:p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0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(trigger 1.3V) 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27314522"/>
                  </a:ext>
                </a:extLst>
              </a:tr>
              <a:tr h="567636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1.6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2.756612e-08</a:t>
                      </a:r>
                    </a:p>
                    <a:p>
                      <a:endParaRPr lang="ko-KR" altLang="en-US" sz="1400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35451961"/>
                  </a:ext>
                </a:extLst>
              </a:tr>
              <a:tr h="618881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00" dirty="0">
                          <a:effectLst/>
                        </a:rPr>
                        <a:t>2</a:t>
                      </a:r>
                      <a:endParaRPr lang="ko-KR" altLang="ko-KR" sz="1200" kern="100" dirty="0">
                        <a:effectLst/>
                        <a:latin typeface="맑은 고딕" panose="020B0503020000020004" pitchFamily="50" charset="-127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2.767411e-08</a:t>
                      </a:r>
                    </a:p>
                    <a:p>
                      <a:endParaRPr lang="ko-KR" altLang="en-US" sz="1400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2519079"/>
                  </a:ext>
                </a:extLst>
              </a:tr>
              <a:tr h="567636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</a:rPr>
                        <a:t>3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2.789918e-08</a:t>
                      </a:r>
                    </a:p>
                    <a:p>
                      <a:endParaRPr lang="ko-KR" altLang="en-US" sz="1400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71863929"/>
                  </a:ext>
                </a:extLst>
              </a:tr>
              <a:tr h="567636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2.825414e-08</a:t>
                      </a:r>
                    </a:p>
                    <a:p>
                      <a:endParaRPr lang="ko-KR" altLang="en-US" sz="1400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36554119"/>
                  </a:ext>
                </a:extLst>
              </a:tr>
              <a:tr h="567636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2.891060e-08</a:t>
                      </a:r>
                    </a:p>
                    <a:p>
                      <a:endParaRPr lang="ko-KR" altLang="en-US" sz="1400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03819482"/>
                  </a:ext>
                </a:extLst>
              </a:tr>
              <a:tr h="567636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5.6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2.977684e-08</a:t>
                      </a:r>
                    </a:p>
                    <a:p>
                      <a:endParaRPr lang="ko-KR" altLang="en-US" sz="1400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03694253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406D40F3-3706-CCCF-4CE4-CB3540D481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9894454"/>
              </p:ext>
            </p:extLst>
          </p:nvPr>
        </p:nvGraphicFramePr>
        <p:xfrm>
          <a:off x="3491880" y="1315789"/>
          <a:ext cx="2664296" cy="422181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43233">
                  <a:extLst>
                    <a:ext uri="{9D8B030D-6E8A-4147-A177-3AD203B41FA5}">
                      <a16:colId xmlns:a16="http://schemas.microsoft.com/office/drawing/2014/main" val="434377849"/>
                    </a:ext>
                  </a:extLst>
                </a:gridCol>
                <a:gridCol w="1421063">
                  <a:extLst>
                    <a:ext uri="{9D8B030D-6E8A-4147-A177-3AD203B41FA5}">
                      <a16:colId xmlns:a16="http://schemas.microsoft.com/office/drawing/2014/main" val="1200340619"/>
                    </a:ext>
                  </a:extLst>
                </a:gridCol>
              </a:tblGrid>
              <a:tr h="620487"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Rise time ( </a:t>
                      </a:r>
                      <a:r>
                        <a:rPr lang="ko-KR" altLang="en-US" sz="1000" kern="1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유선딜레이</a:t>
                      </a:r>
                      <a:r>
                        <a:rPr lang="ko-KR" altLang="en-US" sz="10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kern="1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적용후</a:t>
                      </a:r>
                      <a:r>
                        <a:rPr lang="en-US" altLang="ko-KR" sz="10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) </a:t>
                      </a:r>
                    </a:p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0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5.3535ns</a:t>
                      </a:r>
                      <a:r>
                        <a:rPr lang="ko-KR" altLang="en-US" sz="10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뺀 값</a:t>
                      </a:r>
                      <a:r>
                        <a:rPr lang="en-US" altLang="ko-KR" sz="10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/ trigger</a:t>
                      </a:r>
                      <a:r>
                        <a:rPr lang="ko-KR" altLang="en-US" sz="10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는 </a:t>
                      </a:r>
                      <a:r>
                        <a:rPr lang="en-US" altLang="ko-KR" sz="10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3.0303ns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27314522"/>
                  </a:ext>
                </a:extLst>
              </a:tr>
              <a:tr h="591324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1.6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2.221262e-08</a:t>
                      </a:r>
                    </a:p>
                    <a:p>
                      <a:endParaRPr lang="ko-KR" altLang="en-US" sz="1400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35451961"/>
                  </a:ext>
                </a:extLst>
              </a:tr>
              <a:tr h="644707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00" dirty="0">
                          <a:effectLst/>
                        </a:rPr>
                        <a:t>2</a:t>
                      </a:r>
                      <a:endParaRPr lang="ko-KR" altLang="ko-KR" sz="1200" kern="100" dirty="0">
                        <a:effectLst/>
                        <a:latin typeface="맑은 고딕" panose="020B0503020000020004" pitchFamily="50" charset="-127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2.232061e-08</a:t>
                      </a:r>
                    </a:p>
                    <a:p>
                      <a:endParaRPr lang="ko-KR" altLang="en-US" sz="1400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2519079"/>
                  </a:ext>
                </a:extLst>
              </a:tr>
              <a:tr h="591324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</a:rPr>
                        <a:t>3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2.254568e-08</a:t>
                      </a:r>
                    </a:p>
                    <a:p>
                      <a:endParaRPr lang="ko-KR" altLang="en-US" sz="1400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71863929"/>
                  </a:ext>
                </a:extLst>
              </a:tr>
              <a:tr h="591324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2.290064-08</a:t>
                      </a:r>
                    </a:p>
                    <a:p>
                      <a:endParaRPr lang="ko-KR" altLang="en-US" sz="1400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36554119"/>
                  </a:ext>
                </a:extLst>
              </a:tr>
              <a:tr h="591324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2.35571e-08</a:t>
                      </a:r>
                    </a:p>
                    <a:p>
                      <a:endParaRPr lang="ko-KR" altLang="en-US" sz="1400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03819482"/>
                  </a:ext>
                </a:extLst>
              </a:tr>
              <a:tr h="591324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5.6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2.442334e-08</a:t>
                      </a:r>
                    </a:p>
                    <a:p>
                      <a:endParaRPr lang="ko-KR" altLang="en-US" sz="1400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03694253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FBE1BCC5-8090-42BE-93B0-190C93B9C8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634886"/>
              </p:ext>
            </p:extLst>
          </p:nvPr>
        </p:nvGraphicFramePr>
        <p:xfrm>
          <a:off x="6570752" y="1315788"/>
          <a:ext cx="2321728" cy="41117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83382">
                  <a:extLst>
                    <a:ext uri="{9D8B030D-6E8A-4147-A177-3AD203B41FA5}">
                      <a16:colId xmlns:a16="http://schemas.microsoft.com/office/drawing/2014/main" val="434377849"/>
                    </a:ext>
                  </a:extLst>
                </a:gridCol>
                <a:gridCol w="1238346">
                  <a:extLst>
                    <a:ext uri="{9D8B030D-6E8A-4147-A177-3AD203B41FA5}">
                      <a16:colId xmlns:a16="http://schemas.microsoft.com/office/drawing/2014/main" val="1200340619"/>
                    </a:ext>
                  </a:extLst>
                </a:gridCol>
              </a:tblGrid>
              <a:tr h="601044"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Work error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00" dirty="0">
                          <a:solidFill>
                            <a:schemeClr val="lt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trigger</a:t>
                      </a:r>
                      <a:r>
                        <a:rPr lang="ko-KR" altLang="en-US" sz="1000" b="0" i="0" kern="100" dirty="0">
                          <a:solidFill>
                            <a:schemeClr val="lt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신호와 차이 </a:t>
                      </a:r>
                      <a:r>
                        <a:rPr lang="en-US" altLang="ko-KR" sz="1000" b="0" i="0" kern="100" dirty="0">
                          <a:solidFill>
                            <a:schemeClr val="lt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-&gt;(</a:t>
                      </a:r>
                      <a:r>
                        <a:rPr lang="ko-KR" altLang="en-US" sz="1000" b="0" i="0" kern="100" dirty="0">
                          <a:solidFill>
                            <a:schemeClr val="lt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기준</a:t>
                      </a:r>
                      <a:r>
                        <a:rPr lang="en-US" altLang="ko-KR" sz="1000" b="0" i="0" kern="100" dirty="0">
                          <a:solidFill>
                            <a:schemeClr val="lt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: 1.067ns)</a:t>
                      </a:r>
                      <a:endParaRPr lang="en-US" altLang="ko-KR" sz="1400" b="0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27314522"/>
                  </a:ext>
                </a:extLst>
              </a:tr>
              <a:tr h="576441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1.6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1.918232e-08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=19.18232ns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35451961"/>
                  </a:ext>
                </a:extLst>
              </a:tr>
              <a:tr h="628479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00" dirty="0">
                          <a:effectLst/>
                        </a:rPr>
                        <a:t>2</a:t>
                      </a:r>
                      <a:endParaRPr lang="ko-KR" altLang="ko-KR" sz="1200" kern="100" dirty="0">
                        <a:effectLst/>
                        <a:latin typeface="맑은 고딕" panose="020B0503020000020004" pitchFamily="50" charset="-127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1.929031e-08</a:t>
                      </a:r>
                    </a:p>
                    <a:p>
                      <a:r>
                        <a:rPr lang="en-US" altLang="ko-KR" sz="1400" dirty="0"/>
                        <a:t>=19.29031ns</a:t>
                      </a:r>
                      <a:endParaRPr lang="ko-KR" altLang="en-US" sz="1400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2519079"/>
                  </a:ext>
                </a:extLst>
              </a:tr>
              <a:tr h="576441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</a:rPr>
                        <a:t>3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1.951538e-08</a:t>
                      </a:r>
                    </a:p>
                    <a:p>
                      <a:r>
                        <a:rPr lang="en-US" altLang="ko-KR" sz="1400" dirty="0"/>
                        <a:t>=19.51538ns</a:t>
                      </a:r>
                      <a:endParaRPr lang="ko-KR" altLang="en-US" sz="1400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71863929"/>
                  </a:ext>
                </a:extLst>
              </a:tr>
              <a:tr h="576441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1.987034e-08</a:t>
                      </a:r>
                    </a:p>
                    <a:p>
                      <a:r>
                        <a:rPr lang="en-US" altLang="ko-KR" sz="1400" dirty="0"/>
                        <a:t>=19.87034ns</a:t>
                      </a:r>
                      <a:endParaRPr lang="ko-KR" altLang="en-US" sz="1400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36554119"/>
                  </a:ext>
                </a:extLst>
              </a:tr>
              <a:tr h="576441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2.05268e-08</a:t>
                      </a:r>
                    </a:p>
                    <a:p>
                      <a:r>
                        <a:rPr lang="en-US" altLang="ko-KR" sz="1400" dirty="0"/>
                        <a:t>=20.5268ns</a:t>
                      </a:r>
                      <a:endParaRPr lang="ko-KR" altLang="en-US" sz="1400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03819482"/>
                  </a:ext>
                </a:extLst>
              </a:tr>
              <a:tr h="576441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5.6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2.139304e-08</a:t>
                      </a:r>
                    </a:p>
                    <a:p>
                      <a:r>
                        <a:rPr lang="en-US" altLang="ko-KR" sz="1400" dirty="0"/>
                        <a:t>=21.39304ns</a:t>
                      </a:r>
                      <a:endParaRPr lang="ko-KR" altLang="en-US" sz="1400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0369425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BC9B760A-AF4F-E869-D437-762EC4A0C267}"/>
              </a:ext>
            </a:extLst>
          </p:cNvPr>
          <p:cNvSpPr txBox="1"/>
          <p:nvPr/>
        </p:nvSpPr>
        <p:spPr>
          <a:xfrm>
            <a:off x="1043608" y="5661248"/>
            <a:ext cx="7560840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/>
              <a:t>(80db</a:t>
            </a:r>
            <a:r>
              <a:rPr lang="ko-KR" altLang="en-US" dirty="0"/>
              <a:t>기준</a:t>
            </a:r>
            <a:r>
              <a:rPr lang="en-US" altLang="ko-KR" dirty="0"/>
              <a:t>)</a:t>
            </a:r>
            <a:r>
              <a:rPr lang="ko-KR" altLang="en-US" dirty="0"/>
              <a:t>최대 </a:t>
            </a:r>
            <a:r>
              <a:rPr lang="en-US" altLang="ko-KR" dirty="0"/>
              <a:t>2.21072ns</a:t>
            </a:r>
            <a:r>
              <a:rPr lang="ko-KR" altLang="en-US" dirty="0"/>
              <a:t>정도의 </a:t>
            </a:r>
            <a:r>
              <a:rPr lang="en-US" altLang="ko-KR" dirty="0" err="1"/>
              <a:t>workerror</a:t>
            </a:r>
            <a:r>
              <a:rPr lang="ko-KR" altLang="en-US" dirty="0"/>
              <a:t>발생 </a:t>
            </a:r>
            <a:r>
              <a:rPr lang="en-US" altLang="ko-KR" dirty="0"/>
              <a:t>33.2 cm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보정 필요</a:t>
            </a:r>
          </a:p>
        </p:txBody>
      </p:sp>
    </p:spTree>
    <p:extLst>
      <p:ext uri="{BB962C8B-B14F-4D97-AF65-F5344CB8AC3E}">
        <p14:creationId xmlns:p14="http://schemas.microsoft.com/office/powerpoint/2010/main" val="1739605944"/>
      </p:ext>
    </p:extLst>
  </p:cSld>
  <p:clrMapOvr>
    <a:masterClrMapping/>
  </p:clrMapOvr>
  <p:transition advTm="84585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B6E75-E20F-C412-B768-228C12725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36B59B8C-29EC-2A21-98B0-D7F833C45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06" y="365395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최종결과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D521C83-3F96-457C-FEC1-EDF2CF4D0C50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2708F5A-4F12-190D-0673-E5B4739C33AF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BA4F62-F6E2-83B1-9159-C8B34E392849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C79D50CA-EEF5-82B3-6D14-A87DB9BCB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26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72DBC6C-46C7-D961-A7B8-3FF05A62E81D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graphicFrame>
        <p:nvGraphicFramePr>
          <p:cNvPr id="2" name="내용 개체 틀 1">
            <a:extLst>
              <a:ext uri="{FF2B5EF4-FFF2-40B4-BE49-F238E27FC236}">
                <a16:creationId xmlns:a16="http://schemas.microsoft.com/office/drawing/2014/main" id="{49913387-24B4-2EEE-333F-F0739F4BB5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1813973"/>
              </p:ext>
            </p:extLst>
          </p:nvPr>
        </p:nvGraphicFramePr>
        <p:xfrm>
          <a:off x="457201" y="1600200"/>
          <a:ext cx="4042791" cy="220038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86477">
                  <a:extLst>
                    <a:ext uri="{9D8B030D-6E8A-4147-A177-3AD203B41FA5}">
                      <a16:colId xmlns:a16="http://schemas.microsoft.com/office/drawing/2014/main" val="434377849"/>
                    </a:ext>
                  </a:extLst>
                </a:gridCol>
                <a:gridCol w="2156314">
                  <a:extLst>
                    <a:ext uri="{9D8B030D-6E8A-4147-A177-3AD203B41FA5}">
                      <a16:colId xmlns:a16="http://schemas.microsoft.com/office/drawing/2014/main" val="1200340619"/>
                    </a:ext>
                  </a:extLst>
                </a:gridCol>
              </a:tblGrid>
              <a:tr h="484573">
                <a:tc gridSpan="2"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27314522"/>
                  </a:ext>
                </a:extLst>
              </a:tr>
              <a:tr h="484573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 dirty="0">
                          <a:effectLst/>
                        </a:rPr>
                        <a:t>거리 범위 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00" dirty="0">
                          <a:effectLst/>
                        </a:rPr>
                        <a:t>5.4m~117.9m</a:t>
                      </a:r>
                      <a:endParaRPr lang="ko-KR" altLang="ko-KR" sz="1800" kern="100" dirty="0">
                        <a:effectLst/>
                        <a:latin typeface="맑은 고딕" panose="020B0503020000020004" pitchFamily="50" charset="-127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endParaRPr lang="ko-KR" altLang="en-US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35451961"/>
                  </a:ext>
                </a:extLst>
              </a:tr>
              <a:tr h="637746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kern="100" dirty="0">
                          <a:effectLst/>
                        </a:rPr>
                        <a:t>Dynamic Range</a:t>
                      </a:r>
                      <a:endParaRPr lang="ko-KR" altLang="ko-KR" sz="1600" kern="100" dirty="0">
                        <a:effectLst/>
                        <a:latin typeface="맑은 고딕" panose="020B0503020000020004" pitchFamily="50" charset="-127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00" dirty="0">
                          <a:effectLst/>
                        </a:rPr>
                        <a:t>60dB</a:t>
                      </a:r>
                      <a:endParaRPr lang="ko-KR" altLang="ko-KR" sz="1800" kern="100" dirty="0">
                        <a:effectLst/>
                        <a:latin typeface="맑은 고딕" panose="020B0503020000020004" pitchFamily="50" charset="-127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endParaRPr lang="ko-KR" altLang="en-US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2519079"/>
                  </a:ext>
                </a:extLst>
              </a:tr>
              <a:tr h="529424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 dirty="0">
                          <a:effectLst/>
                        </a:rPr>
                        <a:t>해상도</a:t>
                      </a:r>
                      <a:r>
                        <a:rPr lang="en-US" sz="1600" kern="100" dirty="0">
                          <a:effectLst/>
                        </a:rPr>
                        <a:t>(Range resolution) 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400" kern="600" dirty="0">
                          <a:effectLst/>
                        </a:rPr>
                        <a:t>≤</a:t>
                      </a:r>
                      <a:r>
                        <a:rPr lang="en-US" altLang="ko-KR" sz="1400" kern="600" dirty="0">
                          <a:effectLst/>
                        </a:rPr>
                        <a:t> 15 [mm] (100 </a:t>
                      </a:r>
                      <a:r>
                        <a:rPr lang="en-US" altLang="ko-KR" sz="1400" kern="600" dirty="0" err="1">
                          <a:effectLst/>
                        </a:rPr>
                        <a:t>ps</a:t>
                      </a:r>
                      <a:r>
                        <a:rPr lang="en-US" altLang="ko-KR" sz="1400" kern="600" dirty="0">
                          <a:effectLst/>
                        </a:rPr>
                        <a:t> walk)</a:t>
                      </a:r>
                      <a:endParaRPr lang="ko-KR" altLang="ko-KR" sz="1400" kern="100" dirty="0">
                        <a:effectLst/>
                        <a:latin typeface="맑은 고딕" panose="020B0503020000020004" pitchFamily="50" charset="-127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endParaRPr lang="ko-KR" altLang="en-US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71863929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CEBE02E-5471-BC78-11B7-A2567E88CA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16747"/>
              </p:ext>
            </p:extLst>
          </p:nvPr>
        </p:nvGraphicFramePr>
        <p:xfrm>
          <a:off x="4788024" y="1628800"/>
          <a:ext cx="3960440" cy="212783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48050">
                  <a:extLst>
                    <a:ext uri="{9D8B030D-6E8A-4147-A177-3AD203B41FA5}">
                      <a16:colId xmlns:a16="http://schemas.microsoft.com/office/drawing/2014/main" val="434377849"/>
                    </a:ext>
                  </a:extLst>
                </a:gridCol>
                <a:gridCol w="2112390">
                  <a:extLst>
                    <a:ext uri="{9D8B030D-6E8A-4147-A177-3AD203B41FA5}">
                      <a16:colId xmlns:a16="http://schemas.microsoft.com/office/drawing/2014/main" val="1200340619"/>
                    </a:ext>
                  </a:extLst>
                </a:gridCol>
              </a:tblGrid>
              <a:tr h="509887">
                <a:tc gridSpan="2"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27314522"/>
                  </a:ext>
                </a:extLst>
              </a:tr>
              <a:tr h="509887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 dirty="0">
                          <a:effectLst/>
                        </a:rPr>
                        <a:t>거리 범위 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2.88~60m</a:t>
                      </a:r>
                      <a:endParaRPr lang="ko-KR" altLang="en-US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35451961"/>
                  </a:ext>
                </a:extLst>
              </a:tr>
              <a:tr h="581341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kern="100" dirty="0">
                          <a:effectLst/>
                        </a:rPr>
                        <a:t>Dynamic Range</a:t>
                      </a:r>
                      <a:endParaRPr lang="ko-KR" altLang="ko-KR" sz="1600" kern="100" dirty="0">
                        <a:effectLst/>
                        <a:latin typeface="맑은 고딕" panose="020B0503020000020004" pitchFamily="50" charset="-127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60dB</a:t>
                      </a:r>
                      <a:endParaRPr lang="ko-KR" altLang="en-US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2519079"/>
                  </a:ext>
                </a:extLst>
              </a:tr>
              <a:tr h="509887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600" kern="100" dirty="0">
                          <a:effectLst/>
                        </a:rPr>
                        <a:t>해상도</a:t>
                      </a:r>
                      <a:r>
                        <a:rPr lang="en-US" sz="1600" kern="100" dirty="0">
                          <a:effectLst/>
                        </a:rPr>
                        <a:t>(Range resolution) </a:t>
                      </a:r>
                      <a:endParaRPr lang="ko-KR" sz="16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400" kern="600" dirty="0">
                          <a:effectLst/>
                        </a:rPr>
                        <a:t>≤</a:t>
                      </a:r>
                      <a:r>
                        <a:rPr lang="en-US" altLang="ko-KR" sz="1400" kern="600" dirty="0">
                          <a:effectLst/>
                        </a:rPr>
                        <a:t> 30 [cm] (2ns</a:t>
                      </a:r>
                      <a:r>
                        <a:rPr lang="ko-KR" altLang="en-US" sz="1400" kern="600" dirty="0">
                          <a:effectLst/>
                        </a:rPr>
                        <a:t> </a:t>
                      </a:r>
                      <a:r>
                        <a:rPr lang="en-US" altLang="ko-KR" sz="1400" kern="600" dirty="0">
                          <a:effectLst/>
                        </a:rPr>
                        <a:t>walk)</a:t>
                      </a:r>
                      <a:endParaRPr lang="ko-KR" altLang="ko-KR" sz="1400" kern="100" dirty="0">
                        <a:effectLst/>
                        <a:latin typeface="맑은 고딕" panose="020B0503020000020004" pitchFamily="50" charset="-127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endParaRPr lang="ko-KR" altLang="en-US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718639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1521195"/>
      </p:ext>
    </p:extLst>
  </p:cSld>
  <p:clrMapOvr>
    <a:masterClrMapping/>
  </p:clrMapOvr>
  <p:transition advTm="84585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2A847-996B-A459-EF75-717BBB130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A9219A83-D362-F289-918F-878E29A60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06" y="365395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 dirty="0" err="1">
                <a:solidFill>
                  <a:schemeClr val="accent6">
                    <a:lumMod val="50000"/>
                  </a:schemeClr>
                </a:solidFill>
              </a:rPr>
              <a:t>보완할점</a:t>
            </a: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ko-KR" sz="2600" b="1" dirty="0">
                <a:solidFill>
                  <a:schemeClr val="accent6">
                    <a:lumMod val="50000"/>
                  </a:schemeClr>
                </a:solidFill>
              </a:rPr>
              <a:t>- </a:t>
            </a:r>
            <a:r>
              <a:rPr lang="ko-KR" altLang="en-US" sz="2600" b="1" dirty="0" err="1">
                <a:solidFill>
                  <a:schemeClr val="accent6">
                    <a:lumMod val="50000"/>
                  </a:schemeClr>
                </a:solidFill>
              </a:rPr>
              <a:t>링잉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12CD916-0028-2AAF-FD68-D104DEEC9F67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F4C2250-62B4-F42F-F452-1AA8A76B2C22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D4F28C-464A-DD3D-4FB9-6D3359F7B118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18A037A0-9A71-F879-0412-DA1ACECDA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27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2209116-90A5-AE93-E889-71D8B35C8EAC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AEF408-09C4-D50E-680D-906723A8A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5256" y="1319560"/>
            <a:ext cx="2615150" cy="45964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200" dirty="0"/>
              <a:t>여전히 </a:t>
            </a:r>
            <a:r>
              <a:rPr lang="ko-KR" altLang="en-US" sz="1200" dirty="0" err="1"/>
              <a:t>링잉</a:t>
            </a:r>
            <a:r>
              <a:rPr lang="ko-KR" altLang="en-US" sz="1200" dirty="0"/>
              <a:t> 문제 존재</a:t>
            </a:r>
            <a:endParaRPr lang="en-US" altLang="ko-KR" sz="1200" dirty="0"/>
          </a:p>
          <a:p>
            <a:pPr marL="0" indent="0">
              <a:buNone/>
            </a:pPr>
            <a:endParaRPr lang="en-US" altLang="ko-KR" sz="1200" dirty="0"/>
          </a:p>
          <a:p>
            <a:pPr marL="0" indent="0">
              <a:buNone/>
            </a:pPr>
            <a:endParaRPr lang="en-US" altLang="ko-KR" sz="1200" dirty="0"/>
          </a:p>
          <a:p>
            <a:pPr marL="0" indent="0">
              <a:buNone/>
            </a:pPr>
            <a:endParaRPr lang="en-US" altLang="ko-KR" sz="1200" dirty="0"/>
          </a:p>
          <a:p>
            <a:pPr marL="0" indent="0">
              <a:buNone/>
            </a:pPr>
            <a:endParaRPr lang="en-US" altLang="ko-KR" sz="1200" dirty="0"/>
          </a:p>
          <a:p>
            <a:pPr marL="0" indent="0">
              <a:buNone/>
            </a:pPr>
            <a:endParaRPr lang="en-US" altLang="ko-KR" sz="1200" dirty="0"/>
          </a:p>
          <a:p>
            <a:pPr marL="0" indent="0">
              <a:buNone/>
            </a:pPr>
            <a:endParaRPr lang="en-US" altLang="ko-KR" sz="1200" dirty="0"/>
          </a:p>
          <a:p>
            <a:pPr marL="0" indent="0">
              <a:buNone/>
            </a:pPr>
            <a:endParaRPr lang="en-US" altLang="ko-KR" sz="1200" dirty="0"/>
          </a:p>
          <a:p>
            <a:pPr marL="0" indent="0">
              <a:buNone/>
            </a:pPr>
            <a:endParaRPr lang="en-US" altLang="ko-KR" sz="1200" dirty="0"/>
          </a:p>
          <a:p>
            <a:pPr marL="0" indent="0">
              <a:buNone/>
            </a:pPr>
            <a:r>
              <a:rPr lang="ko-KR" altLang="en-US" sz="1200" dirty="0"/>
              <a:t>그래서 노이즈가 </a:t>
            </a:r>
            <a:r>
              <a:rPr lang="en-US" altLang="ko-KR" sz="1200" dirty="0"/>
              <a:t>10mV~15mV</a:t>
            </a:r>
            <a:r>
              <a:rPr lang="ko-KR" altLang="en-US" sz="1200" dirty="0"/>
              <a:t>으로 관측되어도 </a:t>
            </a:r>
            <a:r>
              <a:rPr lang="ko-KR" altLang="en-US" sz="1200" dirty="0" err="1"/>
              <a:t>링잉때문에</a:t>
            </a:r>
            <a:r>
              <a:rPr lang="ko-KR" altLang="en-US" sz="1200" dirty="0"/>
              <a:t> 문턱전압을 낮추지 못하는 결과가 생김</a:t>
            </a:r>
            <a:endParaRPr lang="en-US" altLang="ko-KR" sz="1200" dirty="0"/>
          </a:p>
          <a:p>
            <a:pPr marL="0" indent="0">
              <a:buNone/>
            </a:pPr>
            <a:endParaRPr lang="en-US" altLang="ko-KR" sz="1200" dirty="0"/>
          </a:p>
          <a:p>
            <a:pPr marL="0" indent="0">
              <a:buNone/>
            </a:pPr>
            <a:r>
              <a:rPr lang="en-US" altLang="ko-KR" sz="1050" dirty="0"/>
              <a:t>(</a:t>
            </a:r>
            <a:r>
              <a:rPr lang="ko-KR" altLang="en-US" sz="1050" dirty="0"/>
              <a:t>액티브 </a:t>
            </a:r>
            <a:r>
              <a:rPr lang="ko-KR" altLang="en-US" sz="1050" dirty="0" err="1"/>
              <a:t>프로브로</a:t>
            </a:r>
            <a:r>
              <a:rPr lang="ko-KR" altLang="en-US" sz="1050" dirty="0"/>
              <a:t> 측정해서 추가적인 노이즈 </a:t>
            </a:r>
            <a:r>
              <a:rPr lang="ko-KR" altLang="en-US" sz="1050" dirty="0" err="1"/>
              <a:t>생각해야함</a:t>
            </a:r>
            <a:r>
              <a:rPr lang="en-US" altLang="ko-KR" sz="1050" dirty="0"/>
              <a:t>)</a:t>
            </a:r>
          </a:p>
          <a:p>
            <a:pPr marL="0" indent="0">
              <a:buNone/>
            </a:pPr>
            <a:endParaRPr lang="en-US" altLang="ko-KR" sz="1050" dirty="0"/>
          </a:p>
          <a:p>
            <a:pPr marL="0" indent="0">
              <a:buNone/>
            </a:pPr>
            <a:endParaRPr lang="en-US" altLang="ko-KR" sz="1050" dirty="0"/>
          </a:p>
          <a:p>
            <a:pPr marL="0" indent="0">
              <a:buNone/>
            </a:pPr>
            <a:endParaRPr lang="en-US" altLang="ko-KR" sz="1050" dirty="0"/>
          </a:p>
          <a:p>
            <a:pPr marL="0" indent="0">
              <a:buNone/>
            </a:pPr>
            <a:r>
              <a:rPr lang="en-US" altLang="ko-KR" sz="1200" dirty="0"/>
              <a:t>-&gt; </a:t>
            </a:r>
            <a:r>
              <a:rPr lang="ko-KR" altLang="en-US" sz="1200" dirty="0"/>
              <a:t>결과적으로 </a:t>
            </a:r>
            <a:r>
              <a:rPr lang="en-US" altLang="ko-KR" sz="1200" dirty="0" err="1"/>
              <a:t>workerror</a:t>
            </a:r>
            <a:r>
              <a:rPr lang="ko-KR" altLang="en-US" sz="1200" dirty="0"/>
              <a:t>가 높아질 수 밖에 없음</a:t>
            </a:r>
          </a:p>
        </p:txBody>
      </p:sp>
      <p:pic>
        <p:nvPicPr>
          <p:cNvPr id="2" name="shape1036">
            <a:extLst>
              <a:ext uri="{FF2B5EF4-FFF2-40B4-BE49-F238E27FC236}">
                <a16:creationId xmlns:a16="http://schemas.microsoft.com/office/drawing/2014/main" id="{A959D752-5150-FFD6-1F35-0B733807B5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75" t="14047" b="56498"/>
          <a:stretch>
            <a:fillRect/>
          </a:stretch>
        </p:blipFill>
        <p:spPr>
          <a:xfrm>
            <a:off x="827584" y="1319560"/>
            <a:ext cx="5256584" cy="1298550"/>
          </a:xfrm>
          <a:prstGeom prst="rect">
            <a:avLst/>
          </a:prstGeom>
        </p:spPr>
      </p:pic>
      <p:sp>
        <p:nvSpPr>
          <p:cNvPr id="4" name="타원 3">
            <a:extLst>
              <a:ext uri="{FF2B5EF4-FFF2-40B4-BE49-F238E27FC236}">
                <a16:creationId xmlns:a16="http://schemas.microsoft.com/office/drawing/2014/main" id="{38133B63-AEFC-110F-9EB2-125D95503874}"/>
              </a:ext>
            </a:extLst>
          </p:cNvPr>
          <p:cNvSpPr/>
          <p:nvPr/>
        </p:nvSpPr>
        <p:spPr>
          <a:xfrm>
            <a:off x="3059832" y="1153099"/>
            <a:ext cx="1512168" cy="129855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 descr="텍스트, 스크린샷, 전자제품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D3FD7B6-B47F-FEC2-3B46-F110ABEB69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15" t="16400" r="1236" b="54721"/>
          <a:stretch>
            <a:fillRect/>
          </a:stretch>
        </p:blipFill>
        <p:spPr>
          <a:xfrm>
            <a:off x="739645" y="3212976"/>
            <a:ext cx="5432461" cy="1409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711576"/>
      </p:ext>
    </p:extLst>
  </p:cSld>
  <p:clrMapOvr>
    <a:masterClrMapping/>
  </p:clrMapOvr>
  <p:transition advTm="84585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6FA22-05B0-7417-F7A5-76E084D63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83190A9-A5DD-A6D5-9D4B-ABC038B2D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06" y="365395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보완할 점 </a:t>
            </a:r>
            <a:r>
              <a:rPr lang="en-US" altLang="ko-KR" sz="2600" b="1" dirty="0">
                <a:solidFill>
                  <a:schemeClr val="accent6">
                    <a:lumMod val="50000"/>
                  </a:schemeClr>
                </a:solidFill>
              </a:rPr>
              <a:t>– 695 feedback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C31D3C4-CAB4-2527-4A17-69A0617FC778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95A056A-F1FA-0345-9A85-C30555618F6A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46ECD9-9627-B29F-1439-989D5FA3D0CA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C9F343B8-13EF-6C8E-DF88-640698DDC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28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4DECFA4-3D20-308C-4111-292508B32875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B302DB-B7A9-90BD-8401-D93CC8E05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4" name="그림 3" descr="텍스트, 도표, 라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588B755-0453-B993-7317-E76665A9D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934" y="2072417"/>
            <a:ext cx="8508107" cy="3197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073406"/>
      </p:ext>
    </p:extLst>
  </p:cSld>
  <p:clrMapOvr>
    <a:masterClrMapping/>
  </p:clrMapOvr>
  <p:transition advTm="84585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43928-4774-1D8D-81F9-706BE8FDC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336B3166-8266-BF0B-2571-48ABA5942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06" y="365395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고찰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C36704D-5A24-0092-E20C-D75BA3B49676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E23453E-9232-B1D6-21A3-148B2F10A437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8D6E8C-76C3-9EB4-4FDD-349C97256CBF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8513872E-30B6-84A4-6C2B-F3693FC79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29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2D6D006-493F-1041-6E90-4A5F1B329C9D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pic>
        <p:nvPicPr>
          <p:cNvPr id="4" name="shape1025">
            <a:extLst>
              <a:ext uri="{FF2B5EF4-FFF2-40B4-BE49-F238E27FC236}">
                <a16:creationId xmlns:a16="http://schemas.microsoft.com/office/drawing/2014/main" id="{12E4BB03-2488-82BC-BF70-49BFD976CC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63688" y="1423426"/>
            <a:ext cx="4608512" cy="458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770062"/>
      </p:ext>
    </p:extLst>
  </p:cSld>
  <p:clrMapOvr>
    <a:masterClrMapping/>
  </p:clrMapOvr>
  <p:transition advTm="84585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7DFA4-9275-0BFC-EFFB-9CFF4EF28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EAE7DB72-78EE-5A35-2092-09E21E10B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06" y="365395"/>
            <a:ext cx="8686800" cy="582594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ko-KR" altLang="en-US" sz="2600" b="1" dirty="0">
                <a:solidFill>
                  <a:schemeClr val="accent6">
                    <a:lumMod val="50000"/>
                  </a:schemeClr>
                </a:solidFill>
              </a:rPr>
              <a:t>고찰</a:t>
            </a:r>
            <a:br>
              <a:rPr lang="en-US" altLang="ko-KR" sz="2800" dirty="0"/>
            </a:br>
            <a:endParaRPr lang="ko-KR" altLang="en-US" sz="2600" b="1" dirty="0">
              <a:solidFill>
                <a:schemeClr val="accent6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540A791-6876-2717-951B-78F8AE000A4B}"/>
              </a:ext>
            </a:extLst>
          </p:cNvPr>
          <p:cNvSpPr/>
          <p:nvPr/>
        </p:nvSpPr>
        <p:spPr>
          <a:xfrm>
            <a:off x="0" y="857232"/>
            <a:ext cx="571472" cy="2143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6A179B4-F280-DC75-ECD0-B7FE6C775864}"/>
              </a:ext>
            </a:extLst>
          </p:cNvPr>
          <p:cNvSpPr/>
          <p:nvPr/>
        </p:nvSpPr>
        <p:spPr>
          <a:xfrm>
            <a:off x="678645" y="840832"/>
            <a:ext cx="8501090" cy="21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AA518D-37FB-B463-F8A3-8CA25C2796A0}"/>
              </a:ext>
            </a:extLst>
          </p:cNvPr>
          <p:cNvSpPr txBox="1"/>
          <p:nvPr/>
        </p:nvSpPr>
        <p:spPr>
          <a:xfrm>
            <a:off x="5857884" y="6500834"/>
            <a:ext cx="32861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 i="1">
                <a:latin typeface="Times New Roman"/>
                <a:cs typeface="Times New Roman"/>
              </a:rPr>
              <a:t>Mixed-signal System Design Laboratory (MSDLab.)</a:t>
            </a:r>
            <a:endParaRPr lang="ko-KR" altLang="en-US" sz="1100" b="1" i="1">
              <a:latin typeface="Times New Roman"/>
              <a:cs typeface="Times New Roman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DCA51C12-8942-7295-48B9-52F17F61E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95590" y="6492899"/>
            <a:ext cx="2133600" cy="365125"/>
          </a:xfrm>
        </p:spPr>
        <p:txBody>
          <a:bodyPr/>
          <a:lstStyle/>
          <a:p>
            <a:pPr lvl="0">
              <a:defRPr/>
            </a:pPr>
            <a:fld id="{DF56C61A-D2D6-413D-AD46-ECF6F87677AB}" type="slidenum">
              <a:rPr lang="en-US" altLang="en-US"/>
              <a:pPr lvl="0">
                <a:defRPr/>
              </a:pPr>
              <a:t>30</a:t>
            </a:fld>
            <a:endParaRPr lang="en-US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B8E96F7-F1E4-FFA7-77A4-54D813C5D2A9}"/>
              </a:ext>
            </a:extLst>
          </p:cNvPr>
          <p:cNvSpPr txBox="1"/>
          <p:nvPr/>
        </p:nvSpPr>
        <p:spPr>
          <a:xfrm>
            <a:off x="3635896" y="1124744"/>
            <a:ext cx="1656184" cy="21602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20D3E7-4B6C-C015-16B8-397391DD55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4FF530C-DABE-2341-1F92-36E4A38288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1347597"/>
            <a:ext cx="6390621" cy="5269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776445"/>
      </p:ext>
    </p:extLst>
  </p:cSld>
  <p:clrMapOvr>
    <a:masterClrMapping/>
  </p:clrMapOvr>
  <p:transition advTm="84585"/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prstDash val="soli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10488</TotalTime>
  <Words>962</Words>
  <Application>Microsoft Office PowerPoint</Application>
  <PresentationFormat>화면 슬라이드 쇼(4:3)</PresentationFormat>
  <Paragraphs>292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맑은 고딕</vt:lpstr>
      <vt:lpstr>Arial</vt:lpstr>
      <vt:lpstr>Times New Roman</vt:lpstr>
      <vt:lpstr>Wingdings</vt:lpstr>
      <vt:lpstr>Office 테마</vt:lpstr>
      <vt:lpstr>PowerPoint 프레젠테이션</vt:lpstr>
      <vt:lpstr>목차</vt:lpstr>
      <vt:lpstr>캡스톤 과정 </vt:lpstr>
      <vt:lpstr>캡스톤 과정 </vt:lpstr>
      <vt:lpstr>캡스톤 과정 </vt:lpstr>
      <vt:lpstr>캡스톤 과정 </vt:lpstr>
      <vt:lpstr>캡스톤 과정 </vt:lpstr>
      <vt:lpstr>캡스톤 과정 </vt:lpstr>
      <vt:lpstr>튜닝 </vt:lpstr>
      <vt:lpstr>튜닝 </vt:lpstr>
      <vt:lpstr>튜닝 및 회로수정- opa695 output </vt:lpstr>
      <vt:lpstr>튜닝 및 회로수정- opa695 output </vt:lpstr>
      <vt:lpstr>튜닝 및 회로수정- opa695 output </vt:lpstr>
      <vt:lpstr>튜닝 및 회로수정- opa695 output </vt:lpstr>
      <vt:lpstr>튜닝 및 회로수정- opa695 output </vt:lpstr>
      <vt:lpstr>튜닝 </vt:lpstr>
      <vt:lpstr>최종결과 1.6 </vt:lpstr>
      <vt:lpstr>최종결과 </vt:lpstr>
      <vt:lpstr>최종결과 </vt:lpstr>
      <vt:lpstr>최종결과 </vt:lpstr>
      <vt:lpstr>최종결과 </vt:lpstr>
      <vt:lpstr>최종결과 </vt:lpstr>
      <vt:lpstr>최종결과 </vt:lpstr>
      <vt:lpstr>최종결과 </vt:lpstr>
      <vt:lpstr>최종결과 </vt:lpstr>
      <vt:lpstr>최종결과 </vt:lpstr>
      <vt:lpstr>보완할점 - 링잉 </vt:lpstr>
      <vt:lpstr>보완할 점 – 695 feedback </vt:lpstr>
      <vt:lpstr>고찰 </vt:lpstr>
      <vt:lpstr>고찰 </vt:lpstr>
    </vt:vector>
  </TitlesOfParts>
  <Manager/>
  <Company>HSDL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H</dc:creator>
  <cp:lastModifiedBy>김화평</cp:lastModifiedBy>
  <cp:revision>9825</cp:revision>
  <dcterms:created xsi:type="dcterms:W3CDTF">2009-09-22T07:41:51Z</dcterms:created>
  <dcterms:modified xsi:type="dcterms:W3CDTF">2025-06-04T23:18:53Z</dcterms:modified>
  <cp:version/>
</cp:coreProperties>
</file>